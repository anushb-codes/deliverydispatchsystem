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" charset="1" panose="020F0502020204030204"/>
      <p:regular r:id="rId23"/>
    </p:embeddedFont>
    <p:embeddedFont>
      <p:font typeface="Courier New" charset="1" panose="020703090202050204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2.jpe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2.jpeg" Type="http://schemas.openxmlformats.org/officeDocument/2006/relationships/imag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10.pn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media/image2.jpeg" Type="http://schemas.openxmlformats.org/officeDocument/2006/relationships/imag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23" Target="../media/image44.png" Type="http://schemas.openxmlformats.org/officeDocument/2006/relationships/image"/><Relationship Id="rId24" Target="../media/image45.svg" Type="http://schemas.openxmlformats.org/officeDocument/2006/relationships/imag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2" Target="../media/image2.jpeg" Type="http://schemas.openxmlformats.org/officeDocument/2006/relationships/image"/><Relationship Id="rId3" Target="../media/image1.jpe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005840"/>
            <a:ext cx="10607040" cy="457200"/>
            <a:chOff x="0" y="0"/>
            <a:chExt cx="1414272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1427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 PROJECT EVALUATION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756410"/>
            <a:ext cx="10789920" cy="409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9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Delivery Dispatch System:</a:t>
            </a:r>
          </a:p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CBD3DC"/>
                </a:solidFill>
                <a:latin typeface="Calibri (MS)"/>
                <a:ea typeface="Calibri (MS)"/>
                <a:cs typeface="Calibri (MS)"/>
                <a:sym typeface="Calibri (MS)"/>
              </a:rPr>
              <a:t>An Algorithmic Approach to</a:t>
            </a:r>
          </a:p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CBD3DC"/>
                </a:solidFill>
                <a:latin typeface="Calibri (MS)"/>
                <a:ea typeface="Calibri (MS)"/>
                <a:cs typeface="Calibri (MS)"/>
                <a:sym typeface="Calibri (MS)"/>
              </a:rPr>
              <a:t>High-Volume Logistics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6172200"/>
            <a:ext cx="5486400" cy="457200"/>
            <a:chOff x="0" y="0"/>
            <a:chExt cx="73152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315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9FB0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185" y="7040880"/>
            <a:ext cx="2715815" cy="891540"/>
            <a:chOff x="0" y="0"/>
            <a:chExt cx="3621086" cy="1188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21086" cy="1188720"/>
            </a:xfrm>
            <a:custGeom>
              <a:avLst/>
              <a:gdLst/>
              <a:ahLst/>
              <a:cxnLst/>
              <a:rect r="r" b="b" t="t" l="l"/>
              <a:pathLst>
                <a:path h="1188720" w="3621086">
                  <a:moveTo>
                    <a:pt x="0" y="200205"/>
                  </a:moveTo>
                  <a:cubicBezTo>
                    <a:pt x="0" y="89675"/>
                    <a:pt x="94368" y="0"/>
                    <a:pt x="210681" y="0"/>
                  </a:cubicBezTo>
                  <a:lnTo>
                    <a:pt x="3410405" y="0"/>
                  </a:lnTo>
                  <a:cubicBezTo>
                    <a:pt x="3526718" y="0"/>
                    <a:pt x="3621086" y="89675"/>
                    <a:pt x="3621086" y="200205"/>
                  </a:cubicBezTo>
                  <a:lnTo>
                    <a:pt x="3621086" y="988514"/>
                  </a:lnTo>
                  <a:cubicBezTo>
                    <a:pt x="3621086" y="1099045"/>
                    <a:pt x="3526718" y="1188720"/>
                    <a:pt x="3410405" y="1188720"/>
                  </a:cubicBezTo>
                  <a:lnTo>
                    <a:pt x="210681" y="1188720"/>
                  </a:lnTo>
                  <a:cubicBezTo>
                    <a:pt x="94368" y="1188720"/>
                    <a:pt x="0" y="1099045"/>
                    <a:pt x="0" y="988514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7223760"/>
            <a:ext cx="274320" cy="274320"/>
            <a:chOff x="0" y="0"/>
            <a:chExt cx="365760" cy="365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2761" y="7063740"/>
            <a:ext cx="1972894" cy="868680"/>
            <a:chOff x="0" y="0"/>
            <a:chExt cx="2630525" cy="1158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30525" cy="1158240"/>
            </a:xfrm>
            <a:custGeom>
              <a:avLst/>
              <a:gdLst/>
              <a:ahLst/>
              <a:cxnLst/>
              <a:rect r="r" b="b" t="t" l="l"/>
              <a:pathLst>
                <a:path h="1158240" w="2630525">
                  <a:moveTo>
                    <a:pt x="0" y="0"/>
                  </a:moveTo>
                  <a:lnTo>
                    <a:pt x="2630525" y="0"/>
                  </a:lnTo>
                  <a:lnTo>
                    <a:pt x="2630525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779" t="0" r="179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630525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Aryan Ballal</a:t>
              </a:r>
            </a:p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612415021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11880" y="7040880"/>
            <a:ext cx="2514600" cy="868680"/>
            <a:chOff x="0" y="0"/>
            <a:chExt cx="3352800" cy="1158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528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3528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157728" y="0"/>
                  </a:lnTo>
                  <a:cubicBezTo>
                    <a:pt x="3265424" y="0"/>
                    <a:pt x="3352800" y="87376"/>
                    <a:pt x="3352800" y="195072"/>
                  </a:cubicBezTo>
                  <a:lnTo>
                    <a:pt x="3352800" y="963168"/>
                  </a:lnTo>
                  <a:cubicBezTo>
                    <a:pt x="3352800" y="1070864"/>
                    <a:pt x="3265424" y="1158240"/>
                    <a:pt x="3157728" y="1158240"/>
                  </a:cubicBezTo>
                  <a:lnTo>
                    <a:pt x="195072" y="1158240"/>
                  </a:lnTo>
                  <a:cubicBezTo>
                    <a:pt x="87376" y="1158240"/>
                    <a:pt x="0" y="1070864"/>
                    <a:pt x="0" y="96316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11880" y="7223760"/>
            <a:ext cx="274320" cy="274320"/>
            <a:chOff x="0" y="0"/>
            <a:chExt cx="365760" cy="365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67175" y="7063740"/>
            <a:ext cx="1874520" cy="868680"/>
            <a:chOff x="0" y="0"/>
            <a:chExt cx="2499360" cy="1158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9936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99360">
                  <a:moveTo>
                    <a:pt x="0" y="0"/>
                  </a:moveTo>
                  <a:lnTo>
                    <a:pt x="2499360" y="0"/>
                  </a:lnTo>
                  <a:lnTo>
                    <a:pt x="249936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555" t="0" r="-336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49936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Aditya Lampuse</a:t>
              </a:r>
            </a:p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612415003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09360" y="7040880"/>
            <a:ext cx="2514600" cy="868680"/>
            <a:chOff x="0" y="0"/>
            <a:chExt cx="3352800" cy="1158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528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3528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157728" y="0"/>
                  </a:lnTo>
                  <a:cubicBezTo>
                    <a:pt x="3265424" y="0"/>
                    <a:pt x="3352800" y="87376"/>
                    <a:pt x="3352800" y="195072"/>
                  </a:cubicBezTo>
                  <a:lnTo>
                    <a:pt x="3352800" y="963168"/>
                  </a:lnTo>
                  <a:cubicBezTo>
                    <a:pt x="3352800" y="1070864"/>
                    <a:pt x="3265424" y="1158240"/>
                    <a:pt x="3157728" y="1158240"/>
                  </a:cubicBezTo>
                  <a:lnTo>
                    <a:pt x="195072" y="1158240"/>
                  </a:lnTo>
                  <a:cubicBezTo>
                    <a:pt x="87376" y="1158240"/>
                    <a:pt x="0" y="1070864"/>
                    <a:pt x="0" y="96316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42710" y="7223760"/>
            <a:ext cx="274320" cy="274320"/>
            <a:chOff x="0" y="0"/>
            <a:chExt cx="365760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98945" y="7063740"/>
            <a:ext cx="2103120" cy="868680"/>
            <a:chOff x="0" y="0"/>
            <a:chExt cx="2804160" cy="1158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0416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864" t="0" r="787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804160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Heramb Agashe</a:t>
              </a:r>
            </a:p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612415006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06840" y="7040880"/>
            <a:ext cx="2514600" cy="891540"/>
            <a:chOff x="0" y="0"/>
            <a:chExt cx="335280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52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352800">
                  <a:moveTo>
                    <a:pt x="0" y="200205"/>
                  </a:moveTo>
                  <a:cubicBezTo>
                    <a:pt x="0" y="89675"/>
                    <a:pt x="87376" y="0"/>
                    <a:pt x="195072" y="0"/>
                  </a:cubicBezTo>
                  <a:lnTo>
                    <a:pt x="3157728" y="0"/>
                  </a:lnTo>
                  <a:cubicBezTo>
                    <a:pt x="3265424" y="0"/>
                    <a:pt x="3352800" y="89675"/>
                    <a:pt x="3352800" y="200205"/>
                  </a:cubicBezTo>
                  <a:lnTo>
                    <a:pt x="3352800" y="988514"/>
                  </a:lnTo>
                  <a:cubicBezTo>
                    <a:pt x="3352800" y="1099045"/>
                    <a:pt x="3265424" y="1188720"/>
                    <a:pt x="3157728" y="1188720"/>
                  </a:cubicBezTo>
                  <a:lnTo>
                    <a:pt x="195072" y="1188720"/>
                  </a:lnTo>
                  <a:cubicBezTo>
                    <a:pt x="87376" y="1188720"/>
                    <a:pt x="0" y="1099045"/>
                    <a:pt x="0" y="988514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86850" y="7212330"/>
            <a:ext cx="274320" cy="274320"/>
            <a:chOff x="0" y="0"/>
            <a:chExt cx="365760" cy="365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CBD3D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46895" y="7063740"/>
            <a:ext cx="1947742" cy="868680"/>
            <a:chOff x="0" y="0"/>
            <a:chExt cx="2596989" cy="1158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96989" cy="1158240"/>
            </a:xfrm>
            <a:custGeom>
              <a:avLst/>
              <a:gdLst/>
              <a:ahLst/>
              <a:cxnLst/>
              <a:rect r="r" b="b" t="t" l="l"/>
              <a:pathLst>
                <a:path h="1158240" w="2596989">
                  <a:moveTo>
                    <a:pt x="0" y="0"/>
                  </a:moveTo>
                  <a:lnTo>
                    <a:pt x="2596989" y="0"/>
                  </a:lnTo>
                  <a:lnTo>
                    <a:pt x="2596989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970" t="0" r="52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596989" cy="1158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Anush Bhandari</a:t>
              </a:r>
            </a:p>
            <a:p>
              <a:pPr algn="l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612415024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52960" y="1188720"/>
            <a:ext cx="5120640" cy="2194560"/>
            <a:chOff x="0" y="0"/>
            <a:chExt cx="6827520" cy="2926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731008"/>
                  </a:lnTo>
                  <a:cubicBezTo>
                    <a:pt x="6827520" y="2838704"/>
                    <a:pt x="6740144" y="2926080"/>
                    <a:pt x="6632448" y="2926080"/>
                  </a:cubicBezTo>
                  <a:lnTo>
                    <a:pt x="195072" y="2926080"/>
                  </a:lnTo>
                  <a:cubicBezTo>
                    <a:pt x="87376" y="2926080"/>
                    <a:pt x="0" y="2838704"/>
                    <a:pt x="0" y="273100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573000" y="1828800"/>
            <a:ext cx="914400" cy="914400"/>
            <a:chOff x="0" y="0"/>
            <a:chExt cx="12192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61720" y="1600200"/>
            <a:ext cx="3474720" cy="1371600"/>
            <a:chOff x="0" y="0"/>
            <a:chExt cx="463296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463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Binomial Heap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FB0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PENDING QUEUE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52960" y="3657600"/>
            <a:ext cx="5120640" cy="2194560"/>
            <a:chOff x="0" y="0"/>
            <a:chExt cx="6827520" cy="2926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27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731008"/>
                  </a:lnTo>
                  <a:cubicBezTo>
                    <a:pt x="6827520" y="2838704"/>
                    <a:pt x="6740144" y="2926080"/>
                    <a:pt x="6632448" y="2926080"/>
                  </a:cubicBezTo>
                  <a:lnTo>
                    <a:pt x="195072" y="2926080"/>
                  </a:lnTo>
                  <a:cubicBezTo>
                    <a:pt x="87376" y="2926080"/>
                    <a:pt x="0" y="2838704"/>
                    <a:pt x="0" y="273100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73000" y="4297680"/>
            <a:ext cx="914400" cy="914400"/>
            <a:chOff x="0" y="0"/>
            <a:chExt cx="1219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61720" y="4069080"/>
            <a:ext cx="3474720" cy="1371600"/>
            <a:chOff x="0" y="0"/>
            <a:chExt cx="463296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463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 Tree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FB0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TRACKING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252960" y="6126480"/>
            <a:ext cx="5120640" cy="2194560"/>
            <a:chOff x="0" y="0"/>
            <a:chExt cx="6827520" cy="2926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731008"/>
                  </a:lnTo>
                  <a:cubicBezTo>
                    <a:pt x="6827520" y="2838704"/>
                    <a:pt x="6740144" y="2926080"/>
                    <a:pt x="6632448" y="2926080"/>
                  </a:cubicBezTo>
                  <a:lnTo>
                    <a:pt x="195072" y="2926080"/>
                  </a:lnTo>
                  <a:cubicBezTo>
                    <a:pt x="87376" y="2926080"/>
                    <a:pt x="0" y="2838704"/>
                    <a:pt x="0" y="273100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573000" y="6766560"/>
            <a:ext cx="914400" cy="914400"/>
            <a:chOff x="0" y="0"/>
            <a:chExt cx="1219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61720" y="6537960"/>
            <a:ext cx="3474720" cy="1371600"/>
            <a:chOff x="0" y="0"/>
            <a:chExt cx="4632960" cy="1828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46329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9FB0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 FLEET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FB0C3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972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651760"/>
            <a:ext cx="5239512" cy="4937760"/>
            <a:chOff x="0" y="0"/>
            <a:chExt cx="6986016" cy="6583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6015" cy="6583680"/>
            </a:xfrm>
            <a:custGeom>
              <a:avLst/>
              <a:gdLst/>
              <a:ahLst/>
              <a:cxnLst/>
              <a:rect r="r" b="b" t="t" l="l"/>
              <a:pathLst>
                <a:path h="6583680" w="6986015">
                  <a:moveTo>
                    <a:pt x="0" y="195072"/>
                  </a:moveTo>
                  <a:cubicBezTo>
                    <a:pt x="0" y="87249"/>
                    <a:pt x="87249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249"/>
                    <a:pt x="6986015" y="195072"/>
                  </a:cubicBezTo>
                  <a:lnTo>
                    <a:pt x="6986015" y="6388608"/>
                  </a:lnTo>
                  <a:cubicBezTo>
                    <a:pt x="6986015" y="6496304"/>
                    <a:pt x="6898767" y="6583680"/>
                    <a:pt x="6790944" y="6583680"/>
                  </a:cubicBezTo>
                  <a:lnTo>
                    <a:pt x="195072" y="6583680"/>
                  </a:lnTo>
                  <a:cubicBezTo>
                    <a:pt x="87249" y="6583680"/>
                    <a:pt x="0" y="6496431"/>
                    <a:pt x="0" y="63886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971800"/>
            <a:ext cx="914400" cy="914400"/>
            <a:chOff x="0" y="0"/>
            <a:chExt cx="1219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60" y="4067175"/>
            <a:ext cx="4507992" cy="343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A highly optimized, memory-efficient C++ backend architecture designed to automate and optimize the dispatching of delivery truck fleets and drivers dynamically.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4244" y="2103120"/>
            <a:ext cx="8229600" cy="457200"/>
            <a:chOff x="0" y="0"/>
            <a:chExt cx="1097280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 &amp; MOTIVATION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24244" y="2651760"/>
            <a:ext cx="5239512" cy="4937760"/>
            <a:chOff x="0" y="0"/>
            <a:chExt cx="6986016" cy="6583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6015" cy="6583680"/>
            </a:xfrm>
            <a:custGeom>
              <a:avLst/>
              <a:gdLst/>
              <a:ahLst/>
              <a:cxnLst/>
              <a:rect r="r" b="b" t="t" l="l"/>
              <a:pathLst>
                <a:path h="6583680" w="6986015">
                  <a:moveTo>
                    <a:pt x="0" y="195072"/>
                  </a:moveTo>
                  <a:cubicBezTo>
                    <a:pt x="0" y="87249"/>
                    <a:pt x="87249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249"/>
                    <a:pt x="6986015" y="195072"/>
                  </a:cubicBezTo>
                  <a:lnTo>
                    <a:pt x="6986015" y="6388608"/>
                  </a:lnTo>
                  <a:cubicBezTo>
                    <a:pt x="6986015" y="6496304"/>
                    <a:pt x="6898767" y="6583680"/>
                    <a:pt x="6790944" y="6583680"/>
                  </a:cubicBezTo>
                  <a:lnTo>
                    <a:pt x="195072" y="6583680"/>
                  </a:lnTo>
                  <a:cubicBezTo>
                    <a:pt x="87249" y="6583680"/>
                    <a:pt x="0" y="6496431"/>
                    <a:pt x="0" y="63886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90004" y="2971800"/>
            <a:ext cx="914400" cy="914400"/>
            <a:chOff x="0" y="0"/>
            <a:chExt cx="12192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90004" y="4067175"/>
            <a:ext cx="4507992" cy="343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The rapid boom in e-commerce and on-demand delivery services demands split-second decision-making.</a:t>
            </a:r>
          </a:p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 linear processing approaches are too computationally expensive for real-time logistics.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34088" y="2103120"/>
            <a:ext cx="8229600" cy="457200"/>
            <a:chOff x="0" y="0"/>
            <a:chExt cx="109728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CONTEXT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34088" y="2651760"/>
            <a:ext cx="5239512" cy="4937760"/>
            <a:chOff x="0" y="0"/>
            <a:chExt cx="6986016" cy="6583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86015" cy="6583680"/>
            </a:xfrm>
            <a:custGeom>
              <a:avLst/>
              <a:gdLst/>
              <a:ahLst/>
              <a:cxnLst/>
              <a:rect r="r" b="b" t="t" l="l"/>
              <a:pathLst>
                <a:path h="6583680" w="6986015">
                  <a:moveTo>
                    <a:pt x="0" y="195072"/>
                  </a:moveTo>
                  <a:cubicBezTo>
                    <a:pt x="0" y="87249"/>
                    <a:pt x="87249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249"/>
                    <a:pt x="6986015" y="195072"/>
                  </a:cubicBezTo>
                  <a:lnTo>
                    <a:pt x="6986015" y="6388608"/>
                  </a:lnTo>
                  <a:cubicBezTo>
                    <a:pt x="6986015" y="6496304"/>
                    <a:pt x="6898767" y="6583680"/>
                    <a:pt x="6790944" y="6583680"/>
                  </a:cubicBezTo>
                  <a:lnTo>
                    <a:pt x="195072" y="6583680"/>
                  </a:lnTo>
                  <a:cubicBezTo>
                    <a:pt x="87249" y="6583680"/>
                    <a:pt x="0" y="6496431"/>
                    <a:pt x="0" y="63886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99848" y="2971800"/>
            <a:ext cx="914400" cy="914400"/>
            <a:chOff x="0" y="0"/>
            <a:chExt cx="1219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499848" y="4067175"/>
            <a:ext cx="4507992" cy="343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As daily order volumes scale into the tens of thousands, traditional queue management bottlenecks the entire supply chain.</a:t>
            </a:r>
          </a:p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The result is extreme latency and degraded dispatch reliability.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7955280"/>
            <a:ext cx="16459200" cy="1280160"/>
            <a:chOff x="0" y="0"/>
            <a:chExt cx="21945600" cy="1706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1511808"/>
                  </a:lnTo>
                  <a:cubicBezTo>
                    <a:pt x="21945600" y="1619504"/>
                    <a:pt x="21858224" y="1706880"/>
                    <a:pt x="21750528" y="1706880"/>
                  </a:cubicBezTo>
                  <a:lnTo>
                    <a:pt x="195072" y="1706880"/>
                  </a:lnTo>
                  <a:cubicBezTo>
                    <a:pt x="87376" y="1706880"/>
                    <a:pt x="0" y="1619504"/>
                    <a:pt x="0" y="151180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0160" y="6909080"/>
            <a:ext cx="6949440" cy="3372560"/>
            <a:chOff x="0" y="0"/>
            <a:chExt cx="9265920" cy="44967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4496747"/>
            </a:xfrm>
            <a:custGeom>
              <a:avLst/>
              <a:gdLst/>
              <a:ahLst/>
              <a:cxnLst/>
              <a:rect r="r" b="b" t="t" l="l"/>
              <a:pathLst>
                <a:path h="4496747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496747"/>
                  </a:lnTo>
                  <a:lnTo>
                    <a:pt x="0" y="44967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1" r="0" b="40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38100"/>
              <a:ext cx="9265920" cy="4458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59"/>
                </a:lnSpc>
              </a:pPr>
              <a:r>
                <a:rPr lang="en-US" sz="4599" b="true">
                  <a:solidFill>
                    <a:srgbClr val="F5A6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Rapid volume scaling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29700" y="7955280"/>
            <a:ext cx="8229600" cy="1280160"/>
            <a:chOff x="0" y="0"/>
            <a:chExt cx="10972800" cy="170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9728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9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turns traditional queue management into a major bottleneck for modern logistics.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CORE PROBLEM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2688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BOTTLENECKS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7863840" cy="3931920"/>
            <a:chOff x="0" y="0"/>
            <a:chExt cx="10485120" cy="5242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5242560"/>
            </a:xfrm>
            <a:custGeom>
              <a:avLst/>
              <a:gdLst/>
              <a:ahLst/>
              <a:cxnLst/>
              <a:rect r="r" b="b" t="t" l="l"/>
              <a:pathLst>
                <a:path h="5242560" w="10485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5047488"/>
                  </a:lnTo>
                  <a:cubicBezTo>
                    <a:pt x="10485120" y="5155184"/>
                    <a:pt x="10397744" y="5242560"/>
                    <a:pt x="10290048" y="5242560"/>
                  </a:cubicBezTo>
                  <a:lnTo>
                    <a:pt x="195072" y="5242560"/>
                  </a:lnTo>
                  <a:cubicBezTo>
                    <a:pt x="87376" y="5242560"/>
                    <a:pt x="0" y="5155184"/>
                    <a:pt x="0" y="504748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2834640"/>
            <a:ext cx="7132320" cy="3566160"/>
            <a:chOff x="0" y="0"/>
            <a:chExt cx="9509760" cy="4754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481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96572" indent="-248286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linear data structures (like standard arrays and basic linked lists) cannot efficiently schedule priority orders, track active deliveries, and balance driver workloads simultaneously under peak load conditions.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6880" y="2651760"/>
            <a:ext cx="8046720" cy="1737360"/>
            <a:chOff x="0" y="0"/>
            <a:chExt cx="10728960" cy="2316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2121408"/>
                  </a:lnTo>
                  <a:cubicBezTo>
                    <a:pt x="10728960" y="2229104"/>
                    <a:pt x="10641584" y="2316480"/>
                    <a:pt x="10533888" y="2316480"/>
                  </a:cubicBezTo>
                  <a:lnTo>
                    <a:pt x="195072" y="2316480"/>
                  </a:lnTo>
                  <a:cubicBezTo>
                    <a:pt x="87376" y="2316480"/>
                    <a:pt x="0" y="2229104"/>
                    <a:pt x="0" y="21214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3063240"/>
            <a:ext cx="914400" cy="914400"/>
            <a:chOff x="0" y="0"/>
            <a:chExt cx="12192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27080" y="2788920"/>
            <a:ext cx="6217920" cy="1463040"/>
            <a:chOff x="0" y="0"/>
            <a:chExt cx="829056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90560" cy="1950719"/>
            </a:xfrm>
            <a:custGeom>
              <a:avLst/>
              <a:gdLst/>
              <a:ahLst/>
              <a:cxnLst/>
              <a:rect r="r" b="b" t="t" l="l"/>
              <a:pathLst>
                <a:path h="1950719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950719"/>
                  </a:lnTo>
                  <a:lnTo>
                    <a:pt x="0" y="19507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29056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8311" indent="-224155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Searching for and updating active orders requires O(n) time complexity per operation.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26880" y="4480560"/>
            <a:ext cx="8046720" cy="1920240"/>
            <a:chOff x="0" y="0"/>
            <a:chExt cx="10728960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89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2365248"/>
                  </a:lnTo>
                  <a:cubicBezTo>
                    <a:pt x="10728960" y="2472944"/>
                    <a:pt x="10641584" y="2560320"/>
                    <a:pt x="1053388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92640" y="498348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27080" y="4617720"/>
            <a:ext cx="6217920" cy="1645920"/>
            <a:chOff x="0" y="0"/>
            <a:chExt cx="829056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90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2905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8311" indent="-224155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merging of queues from multiple distribution hubs is mathematically inefficient, blocking main execution threads.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6858000"/>
            <a:ext cx="8229600" cy="457200"/>
            <a:chOff x="0" y="0"/>
            <a:chExt cx="109728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IMPACT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7658158"/>
            <a:ext cx="16459200" cy="1435538"/>
            <a:chOff x="0" y="0"/>
            <a:chExt cx="21945600" cy="19140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914051"/>
            </a:xfrm>
            <a:custGeom>
              <a:avLst/>
              <a:gdLst/>
              <a:ahLst/>
              <a:cxnLst/>
              <a:rect r="r" b="b" t="t" l="l"/>
              <a:pathLst>
                <a:path h="1914051" w="21945600">
                  <a:moveTo>
                    <a:pt x="0" y="161183"/>
                  </a:moveTo>
                  <a:cubicBezTo>
                    <a:pt x="0" y="72197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72197"/>
                    <a:pt x="21945600" y="161183"/>
                  </a:cubicBezTo>
                  <a:lnTo>
                    <a:pt x="21945600" y="1752867"/>
                  </a:lnTo>
                  <a:cubicBezTo>
                    <a:pt x="21945600" y="1841854"/>
                    <a:pt x="21858224" y="1914051"/>
                    <a:pt x="21750528" y="1914051"/>
                  </a:cubicBezTo>
                  <a:lnTo>
                    <a:pt x="195072" y="1914051"/>
                  </a:lnTo>
                  <a:cubicBezTo>
                    <a:pt x="87376" y="1914051"/>
                    <a:pt x="0" y="1841854"/>
                    <a:pt x="0" y="1752867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80160" y="7930515"/>
            <a:ext cx="749808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Service Level Agreement (SLA) breaches</a:t>
            </a:r>
          </a:p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Delayed dispatch times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26880" y="7930515"/>
            <a:ext cx="749808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Uneven driver exhaustion</a:t>
            </a:r>
          </a:p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 failure to scale during high-traffic intervals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Aim and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AIM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2376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MEASURABLE OBJECTIVES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5943600" cy="6492240"/>
            <a:chOff x="0" y="0"/>
            <a:chExt cx="7924800" cy="8656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24800" cy="8656320"/>
            </a:xfrm>
            <a:custGeom>
              <a:avLst/>
              <a:gdLst/>
              <a:ahLst/>
              <a:cxnLst/>
              <a:rect r="r" b="b" t="t" l="l"/>
              <a:pathLst>
                <a:path h="8656320" w="79248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729728" y="0"/>
                  </a:lnTo>
                  <a:cubicBezTo>
                    <a:pt x="7837424" y="0"/>
                    <a:pt x="7924800" y="87376"/>
                    <a:pt x="7924800" y="195072"/>
                  </a:cubicBezTo>
                  <a:lnTo>
                    <a:pt x="7924800" y="8461248"/>
                  </a:lnTo>
                  <a:cubicBezTo>
                    <a:pt x="7924800" y="8568944"/>
                    <a:pt x="7837424" y="8656320"/>
                    <a:pt x="7729728" y="8656320"/>
                  </a:cubicBezTo>
                  <a:lnTo>
                    <a:pt x="195072" y="8656320"/>
                  </a:lnTo>
                  <a:cubicBezTo>
                    <a:pt x="87376" y="8656320"/>
                    <a:pt x="0" y="8568944"/>
                    <a:pt x="0" y="846124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0160" y="2979420"/>
            <a:ext cx="5212080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40" indent="-23622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engineer a centralized, highly optimized C++ dispatch backend by implementing self-balancing algorithmic trees and advanced heap structures to ensure strict O(log n) worst-case bounds.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80160" y="6903720"/>
            <a:ext cx="5212080" cy="1097280"/>
            <a:chOff x="0" y="0"/>
            <a:chExt cx="69494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49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6949440" cy="1415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60"/>
                </a:lnSpc>
              </a:pPr>
              <a:r>
                <a:rPr lang="en-US" sz="6600" b="true">
                  <a:solidFill>
                    <a:srgbClr val="F5A6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O(log n)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80160" y="8008620"/>
            <a:ext cx="521208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BD3DC"/>
                </a:solidFill>
                <a:latin typeface="Calibri (MS)"/>
                <a:ea typeface="Calibri (MS)"/>
                <a:cs typeface="Calibri (MS)"/>
                <a:sym typeface="Calibri (MS)"/>
              </a:rPr>
              <a:t>strict worst-case bound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223760" y="2651760"/>
            <a:ext cx="10149840" cy="2057400"/>
            <a:chOff x="0" y="0"/>
            <a:chExt cx="13533120" cy="274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33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533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3338048" y="0"/>
                  </a:lnTo>
                  <a:cubicBezTo>
                    <a:pt x="13445744" y="0"/>
                    <a:pt x="13533120" y="87376"/>
                    <a:pt x="13533120" y="195072"/>
                  </a:cubicBezTo>
                  <a:lnTo>
                    <a:pt x="13533120" y="2548128"/>
                  </a:lnTo>
                  <a:cubicBezTo>
                    <a:pt x="13533120" y="2655824"/>
                    <a:pt x="13445744" y="2743200"/>
                    <a:pt x="13338048" y="2743200"/>
                  </a:cubicBezTo>
                  <a:lnTo>
                    <a:pt x="195072" y="2743200"/>
                  </a:lnTo>
                  <a:cubicBezTo>
                    <a:pt x="87376" y="2743200"/>
                    <a:pt x="0" y="2655824"/>
                    <a:pt x="0" y="25481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89520" y="2971800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823960" y="2907792"/>
            <a:ext cx="8275320" cy="502920"/>
            <a:chOff x="0" y="0"/>
            <a:chExt cx="11033760" cy="670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33760" cy="670560"/>
            </a:xfrm>
            <a:custGeom>
              <a:avLst/>
              <a:gdLst/>
              <a:ahLst/>
              <a:cxnLst/>
              <a:rect r="r" b="b" t="t" l="l"/>
              <a:pathLst>
                <a:path h="670560" w="11033760">
                  <a:moveTo>
                    <a:pt x="0" y="0"/>
                  </a:moveTo>
                  <a:lnTo>
                    <a:pt x="11033760" y="0"/>
                  </a:lnTo>
                  <a:lnTo>
                    <a:pt x="110337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617" r="0" b="-2706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11033760" cy="794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0"/>
                </a:lnSpc>
              </a:pPr>
              <a:r>
                <a:rPr lang="en-US" sz="2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1</a:t>
              </a: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BINOMIAL HEAP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823960" y="3408807"/>
            <a:ext cx="82753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a Binomial Heap to manage pending orders, enabling O(log n) priority extraction and flawless O(log n) dynamic hub merging.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223760" y="4892040"/>
            <a:ext cx="10149840" cy="2057400"/>
            <a:chOff x="0" y="0"/>
            <a:chExt cx="13533120" cy="2743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33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533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3338048" y="0"/>
                  </a:lnTo>
                  <a:cubicBezTo>
                    <a:pt x="13445744" y="0"/>
                    <a:pt x="13533120" y="87376"/>
                    <a:pt x="13533120" y="195072"/>
                  </a:cubicBezTo>
                  <a:lnTo>
                    <a:pt x="13533120" y="2548128"/>
                  </a:lnTo>
                  <a:cubicBezTo>
                    <a:pt x="13533120" y="2655824"/>
                    <a:pt x="13445744" y="2743200"/>
                    <a:pt x="13338048" y="2743200"/>
                  </a:cubicBezTo>
                  <a:lnTo>
                    <a:pt x="195072" y="2743200"/>
                  </a:lnTo>
                  <a:cubicBezTo>
                    <a:pt x="87376" y="2743200"/>
                    <a:pt x="0" y="2655824"/>
                    <a:pt x="0" y="25481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589520" y="5212080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23960" y="5148072"/>
            <a:ext cx="8275320" cy="502920"/>
            <a:chOff x="0" y="0"/>
            <a:chExt cx="11033760" cy="670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3760" cy="670560"/>
            </a:xfrm>
            <a:custGeom>
              <a:avLst/>
              <a:gdLst/>
              <a:ahLst/>
              <a:cxnLst/>
              <a:rect r="r" b="b" t="t" l="l"/>
              <a:pathLst>
                <a:path h="670560" w="11033760">
                  <a:moveTo>
                    <a:pt x="0" y="0"/>
                  </a:moveTo>
                  <a:lnTo>
                    <a:pt x="11033760" y="0"/>
                  </a:lnTo>
                  <a:lnTo>
                    <a:pt x="110337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617" r="0" b="-27061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103376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2</a:t>
              </a:r>
              <a:r>
                <a:rPr lang="en-US" sz="2799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TREAP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823960" y="5649087"/>
            <a:ext cx="82753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Utilize a Treap (Tree + Heap) to dynamically assign drivers, factoring real-time availability and fatigue scores using Max-Heap properties.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223760" y="7132320"/>
            <a:ext cx="10149840" cy="2057400"/>
            <a:chOff x="0" y="0"/>
            <a:chExt cx="13533120" cy="274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533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533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3338048" y="0"/>
                  </a:lnTo>
                  <a:cubicBezTo>
                    <a:pt x="13445744" y="0"/>
                    <a:pt x="13533120" y="87376"/>
                    <a:pt x="13533120" y="195072"/>
                  </a:cubicBezTo>
                  <a:lnTo>
                    <a:pt x="13533120" y="2548128"/>
                  </a:lnTo>
                  <a:cubicBezTo>
                    <a:pt x="13533120" y="2655824"/>
                    <a:pt x="13445744" y="2743200"/>
                    <a:pt x="13338048" y="2743200"/>
                  </a:cubicBezTo>
                  <a:lnTo>
                    <a:pt x="195072" y="2743200"/>
                  </a:lnTo>
                  <a:cubicBezTo>
                    <a:pt x="87376" y="2743200"/>
                    <a:pt x="0" y="2655824"/>
                    <a:pt x="0" y="25481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589520" y="7452360"/>
            <a:ext cx="914400" cy="914400"/>
            <a:chOff x="0" y="0"/>
            <a:chExt cx="12192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823960" y="7388352"/>
            <a:ext cx="8275320" cy="502920"/>
            <a:chOff x="0" y="0"/>
            <a:chExt cx="11033760" cy="670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33760" cy="670560"/>
            </a:xfrm>
            <a:custGeom>
              <a:avLst/>
              <a:gdLst/>
              <a:ahLst/>
              <a:cxnLst/>
              <a:rect r="r" b="b" t="t" l="l"/>
              <a:pathLst>
                <a:path h="670560" w="11033760">
                  <a:moveTo>
                    <a:pt x="0" y="0"/>
                  </a:moveTo>
                  <a:lnTo>
                    <a:pt x="11033760" y="0"/>
                  </a:lnTo>
                  <a:lnTo>
                    <a:pt x="110337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617" r="0" b="-27061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103376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3</a:t>
              </a:r>
              <a:r>
                <a:rPr lang="en-US" sz="2799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AVL TREE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823960" y="7889367"/>
            <a:ext cx="82753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Maintain an AVL Tree for active deliveries, providing strictly balanced O(log n) time complexities for live order tracking and status updates.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572625"/>
            <a:ext cx="7315200" cy="485775"/>
            <a:chOff x="0" y="0"/>
            <a:chExt cx="97536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47700"/>
            </a:xfrm>
            <a:custGeom>
              <a:avLst/>
              <a:gdLst/>
              <a:ahLst/>
              <a:cxnLst/>
              <a:rect r="r" b="b" t="t" l="l"/>
              <a:pathLst>
                <a:path h="6477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421" r="0" b="-2434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541496"/>
            <a:ext cx="16459200" cy="1287304"/>
            <a:chOff x="0" y="0"/>
            <a:chExt cx="21945600" cy="1716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16405"/>
            </a:xfrm>
            <a:custGeom>
              <a:avLst/>
              <a:gdLst/>
              <a:ahLst/>
              <a:cxnLst/>
              <a:rect r="r" b="b" t="t" l="l"/>
              <a:pathLst>
                <a:path h="17164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31" r="0" b="-1991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Scope and Requirements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103120"/>
            <a:ext cx="7863840" cy="457200"/>
            <a:chOff x="0" y="0"/>
            <a:chExt cx="1048512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609600"/>
            </a:xfrm>
            <a:custGeom>
              <a:avLst/>
              <a:gdLst/>
              <a:ahLst/>
              <a:cxnLst/>
              <a:rect r="r" b="b" t="t" l="l"/>
              <a:pathLst>
                <a:path h="6096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910" r="0" b="-28490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067401"/>
            <a:ext cx="7863840" cy="492919"/>
            <a:chOff x="0" y="0"/>
            <a:chExt cx="10485120" cy="6572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657225"/>
            </a:xfrm>
            <a:custGeom>
              <a:avLst/>
              <a:gdLst/>
              <a:ahLst/>
              <a:cxnLst/>
              <a:rect r="r" b="b" t="t" l="l"/>
              <a:pathLst>
                <a:path h="657225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56" r="0" b="-2608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48512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REQUIREMENTS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2178" y="2629538"/>
            <a:ext cx="7908322" cy="2019586"/>
          </a:xfrm>
          <a:custGeom>
            <a:avLst/>
            <a:gdLst/>
            <a:ahLst/>
            <a:cxnLst/>
            <a:rect r="r" b="b" t="t" l="l"/>
            <a:pathLst>
              <a:path h="2019586" w="7908322">
                <a:moveTo>
                  <a:pt x="0" y="0"/>
                </a:moveTo>
                <a:lnTo>
                  <a:pt x="7908322" y="0"/>
                </a:lnTo>
                <a:lnTo>
                  <a:pt x="7908322" y="2019586"/>
                </a:lnTo>
                <a:lnTo>
                  <a:pt x="0" y="201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57938" y="3105026"/>
            <a:ext cx="1068514" cy="1068514"/>
          </a:xfrm>
          <a:custGeom>
            <a:avLst/>
            <a:gdLst/>
            <a:ahLst/>
            <a:cxnLst/>
            <a:rect r="r" b="b" t="t" l="l"/>
            <a:pathLst>
              <a:path h="1068514" w="1068514">
                <a:moveTo>
                  <a:pt x="0" y="0"/>
                </a:moveTo>
                <a:lnTo>
                  <a:pt x="1068515" y="0"/>
                </a:lnTo>
                <a:lnTo>
                  <a:pt x="1068515" y="1068515"/>
                </a:lnTo>
                <a:lnTo>
                  <a:pt x="0" y="10685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556671" y="3403759"/>
            <a:ext cx="471106" cy="471106"/>
            <a:chOff x="0" y="0"/>
            <a:chExt cx="628142" cy="628142"/>
          </a:xfrm>
        </p:grpSpPr>
        <p:sp>
          <p:nvSpPr>
            <p:cNvPr name="Freeform 20" id="20" descr="FaBoxes"/>
            <p:cNvSpPr/>
            <p:nvPr/>
          </p:nvSpPr>
          <p:spPr>
            <a:xfrm flipH="false" flipV="false" rot="0">
              <a:off x="0" y="0"/>
              <a:ext cx="628142" cy="628142"/>
            </a:xfrm>
            <a:custGeom>
              <a:avLst/>
              <a:gdLst/>
              <a:ahLst/>
              <a:cxnLst/>
              <a:rect r="r" b="b" t="t" l="l"/>
              <a:pathLst>
                <a:path h="628142" w="628142">
                  <a:moveTo>
                    <a:pt x="0" y="0"/>
                  </a:moveTo>
                  <a:lnTo>
                    <a:pt x="628142" y="0"/>
                  </a:lnTo>
                  <a:lnTo>
                    <a:pt x="628142" y="628142"/>
                  </a:lnTo>
                  <a:lnTo>
                    <a:pt x="0" y="628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51760" y="2798064"/>
            <a:ext cx="5943600" cy="1682496"/>
            <a:chOff x="0" y="0"/>
            <a:chExt cx="7924800" cy="22433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85" r="0" b="-187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51760" y="2748058"/>
            <a:ext cx="5943600" cy="1732502"/>
            <a:chOff x="0" y="0"/>
            <a:chExt cx="7924800" cy="23100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24800" cy="2310003"/>
            </a:xfrm>
            <a:custGeom>
              <a:avLst/>
              <a:gdLst/>
              <a:ahLst/>
              <a:cxnLst/>
              <a:rect r="r" b="b" t="t" l="l"/>
              <a:pathLst>
                <a:path h="2310003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310003"/>
                  </a:lnTo>
                  <a:lnTo>
                    <a:pt x="0" y="231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46" r="0" b="-168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924800" cy="2376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 orders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Priority 1 (High) to 3 (Low); urgent orders always dispatch first.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92178" y="4824098"/>
            <a:ext cx="7908322" cy="2019586"/>
          </a:xfrm>
          <a:custGeom>
            <a:avLst/>
            <a:gdLst/>
            <a:ahLst/>
            <a:cxnLst/>
            <a:rect r="r" b="b" t="t" l="l"/>
            <a:pathLst>
              <a:path h="2019586" w="7908322">
                <a:moveTo>
                  <a:pt x="0" y="0"/>
                </a:moveTo>
                <a:lnTo>
                  <a:pt x="7908322" y="0"/>
                </a:lnTo>
                <a:lnTo>
                  <a:pt x="7908322" y="2019586"/>
                </a:lnTo>
                <a:lnTo>
                  <a:pt x="0" y="201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57938" y="5299586"/>
            <a:ext cx="1068514" cy="1068514"/>
          </a:xfrm>
          <a:custGeom>
            <a:avLst/>
            <a:gdLst/>
            <a:ahLst/>
            <a:cxnLst/>
            <a:rect r="r" b="b" t="t" l="l"/>
            <a:pathLst>
              <a:path h="1068514" w="1068514">
                <a:moveTo>
                  <a:pt x="0" y="0"/>
                </a:moveTo>
                <a:lnTo>
                  <a:pt x="1068515" y="0"/>
                </a:lnTo>
                <a:lnTo>
                  <a:pt x="1068515" y="1068515"/>
                </a:lnTo>
                <a:lnTo>
                  <a:pt x="0" y="10685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556671" y="5598319"/>
            <a:ext cx="471106" cy="471106"/>
            <a:chOff x="0" y="0"/>
            <a:chExt cx="628142" cy="628142"/>
          </a:xfrm>
        </p:grpSpPr>
        <p:sp>
          <p:nvSpPr>
            <p:cNvPr name="Freeform 29" id="29" descr="FaUsers"/>
            <p:cNvSpPr/>
            <p:nvPr/>
          </p:nvSpPr>
          <p:spPr>
            <a:xfrm flipH="false" flipV="false" rot="0">
              <a:off x="0" y="0"/>
              <a:ext cx="628142" cy="628142"/>
            </a:xfrm>
            <a:custGeom>
              <a:avLst/>
              <a:gdLst/>
              <a:ahLst/>
              <a:cxnLst/>
              <a:rect r="r" b="b" t="t" l="l"/>
              <a:pathLst>
                <a:path h="628142" w="628142">
                  <a:moveTo>
                    <a:pt x="0" y="0"/>
                  </a:moveTo>
                  <a:lnTo>
                    <a:pt x="628142" y="0"/>
                  </a:lnTo>
                  <a:lnTo>
                    <a:pt x="628142" y="628142"/>
                  </a:lnTo>
                  <a:lnTo>
                    <a:pt x="0" y="628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51760" y="4992624"/>
            <a:ext cx="5943600" cy="1682496"/>
            <a:chOff x="0" y="0"/>
            <a:chExt cx="7924800" cy="22433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85" r="0" b="-1878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51760" y="4942618"/>
            <a:ext cx="5943600" cy="1732502"/>
            <a:chOff x="0" y="0"/>
            <a:chExt cx="7924800" cy="23100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24800" cy="2310003"/>
            </a:xfrm>
            <a:custGeom>
              <a:avLst/>
              <a:gdLst/>
              <a:ahLst/>
              <a:cxnLst/>
              <a:rect r="r" b="b" t="t" l="l"/>
              <a:pathLst>
                <a:path h="2310003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310003"/>
                  </a:lnTo>
                  <a:lnTo>
                    <a:pt x="0" y="231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46" r="0" b="-168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7924800" cy="2376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 drivers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Availability score 0-100; the highest score gets the next job.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92178" y="7018658"/>
            <a:ext cx="7908322" cy="2019586"/>
          </a:xfrm>
          <a:custGeom>
            <a:avLst/>
            <a:gdLst/>
            <a:ahLst/>
            <a:cxnLst/>
            <a:rect r="r" b="b" t="t" l="l"/>
            <a:pathLst>
              <a:path h="2019586" w="7908322">
                <a:moveTo>
                  <a:pt x="0" y="0"/>
                </a:moveTo>
                <a:lnTo>
                  <a:pt x="7908322" y="0"/>
                </a:lnTo>
                <a:lnTo>
                  <a:pt x="7908322" y="2019586"/>
                </a:lnTo>
                <a:lnTo>
                  <a:pt x="0" y="201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57938" y="7494146"/>
            <a:ext cx="1068514" cy="1068514"/>
          </a:xfrm>
          <a:custGeom>
            <a:avLst/>
            <a:gdLst/>
            <a:ahLst/>
            <a:cxnLst/>
            <a:rect r="r" b="b" t="t" l="l"/>
            <a:pathLst>
              <a:path h="1068514" w="1068514">
                <a:moveTo>
                  <a:pt x="0" y="0"/>
                </a:moveTo>
                <a:lnTo>
                  <a:pt x="1068515" y="0"/>
                </a:lnTo>
                <a:lnTo>
                  <a:pt x="1068515" y="1068515"/>
                </a:lnTo>
                <a:lnTo>
                  <a:pt x="0" y="1068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556671" y="7792879"/>
            <a:ext cx="471106" cy="471106"/>
            <a:chOff x="0" y="0"/>
            <a:chExt cx="628142" cy="628142"/>
          </a:xfrm>
        </p:grpSpPr>
        <p:sp>
          <p:nvSpPr>
            <p:cNvPr name="Freeform 38" id="38" descr="FaRoute"/>
            <p:cNvSpPr/>
            <p:nvPr/>
          </p:nvSpPr>
          <p:spPr>
            <a:xfrm flipH="false" flipV="false" rot="0">
              <a:off x="0" y="0"/>
              <a:ext cx="628142" cy="628142"/>
            </a:xfrm>
            <a:custGeom>
              <a:avLst/>
              <a:gdLst/>
              <a:ahLst/>
              <a:cxnLst/>
              <a:rect r="r" b="b" t="t" l="l"/>
              <a:pathLst>
                <a:path h="628142" w="628142">
                  <a:moveTo>
                    <a:pt x="0" y="0"/>
                  </a:moveTo>
                  <a:lnTo>
                    <a:pt x="628142" y="0"/>
                  </a:lnTo>
                  <a:lnTo>
                    <a:pt x="628142" y="628142"/>
                  </a:lnTo>
                  <a:lnTo>
                    <a:pt x="0" y="628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51760" y="7187184"/>
            <a:ext cx="5943600" cy="1682496"/>
            <a:chOff x="0" y="0"/>
            <a:chExt cx="7924800" cy="22433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24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785" r="0" b="-1878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651760" y="7137178"/>
            <a:ext cx="5943600" cy="1732502"/>
            <a:chOff x="0" y="0"/>
            <a:chExt cx="7924800" cy="23100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924800" cy="2310003"/>
            </a:xfrm>
            <a:custGeom>
              <a:avLst/>
              <a:gdLst/>
              <a:ahLst/>
              <a:cxnLst/>
              <a:rect r="r" b="b" t="t" l="l"/>
              <a:pathLst>
                <a:path h="2310003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2310003"/>
                  </a:lnTo>
                  <a:lnTo>
                    <a:pt x="0" y="23100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46" r="0" b="-1684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7924800" cy="2376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 dispatch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 best order with best driver, then track it until delivery.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2103120"/>
            <a:ext cx="8046720" cy="457200"/>
            <a:chOff x="0" y="0"/>
            <a:chExt cx="1072896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28960" cy="609600"/>
            </a:xfrm>
            <a:custGeom>
              <a:avLst/>
              <a:gdLst/>
              <a:ahLst/>
              <a:cxnLst/>
              <a:rect r="r" b="b" t="t" l="l"/>
              <a:pathLst>
                <a:path h="609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697" r="0" b="-29269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067401"/>
            <a:ext cx="8046720" cy="492919"/>
            <a:chOff x="0" y="0"/>
            <a:chExt cx="10728960" cy="6572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657225"/>
            </a:xfrm>
            <a:custGeom>
              <a:avLst/>
              <a:gdLst/>
              <a:ahLst/>
              <a:cxnLst/>
              <a:rect r="r" b="b" t="t" l="l"/>
              <a:pathLst>
                <a:path h="6572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86" r="0" b="-26808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72896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NON-FUNCTIONAL CONSTRAINT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304658" y="2629538"/>
            <a:ext cx="8091202" cy="2239042"/>
          </a:xfrm>
          <a:custGeom>
            <a:avLst/>
            <a:gdLst/>
            <a:ahLst/>
            <a:cxnLst/>
            <a:rect r="r" b="b" t="t" l="l"/>
            <a:pathLst>
              <a:path h="2239042" w="8091202">
                <a:moveTo>
                  <a:pt x="0" y="0"/>
                </a:moveTo>
                <a:lnTo>
                  <a:pt x="8091202" y="0"/>
                </a:lnTo>
                <a:lnTo>
                  <a:pt x="8091202" y="2239042"/>
                </a:lnTo>
                <a:lnTo>
                  <a:pt x="0" y="22390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9692640" y="2743200"/>
            <a:ext cx="7315200" cy="2011680"/>
            <a:chOff x="0" y="0"/>
            <a:chExt cx="9753600" cy="2682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05" r="0" b="-2080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92640" y="2700338"/>
            <a:ext cx="7315200" cy="2054542"/>
            <a:chOff x="0" y="0"/>
            <a:chExt cx="9753600" cy="27393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2739390"/>
            </a:xfrm>
            <a:custGeom>
              <a:avLst/>
              <a:gdLst/>
              <a:ahLst/>
              <a:cxnLst/>
              <a:rect r="r" b="b" t="t" l="l"/>
              <a:pathLst>
                <a:path h="27393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739390"/>
                  </a:lnTo>
                  <a:lnTo>
                    <a:pt x="0" y="2739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76" r="0" b="-193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753600" cy="2796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C++ pointers only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STL containers in the core logic, so every node and every O(log n) bound is under our direct control.</a:t>
              </a:r>
            </a:p>
          </p:txBody>
        </p:sp>
      </p:grpSp>
      <p:graphicFrame>
        <p:nvGraphicFramePr>
          <p:cNvPr name="Table 55" id="55"/>
          <p:cNvGraphicFramePr>
            <a:graphicFrameLocks noGrp="true"/>
          </p:cNvGraphicFramePr>
          <p:nvPr/>
        </p:nvGraphicFramePr>
        <p:xfrm>
          <a:off x="9326880" y="5212080"/>
          <a:ext cx="7975600" cy="3657600"/>
        </p:xfrm>
        <a:graphic>
          <a:graphicData uri="http://schemas.openxmlformats.org/drawingml/2006/table">
            <a:tbl>
              <a:tblPr/>
              <a:tblGrid>
                <a:gridCol w="3254240"/>
                <a:gridCol w="2807461"/>
                <a:gridCol w="1913899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Operation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Structure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Insert order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Binomial Heap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O(log 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Extract top order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Binomial Heap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O(log 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Merge hub queues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Binomial Heap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O(log 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Find / close order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AVL Tree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O(log 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Assign driver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>
                          <a:solidFill>
                            <a:srgbClr val="1B2A4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Treap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8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B2A4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O(log n)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6" id="56"/>
          <p:cNvSpPr txBox="true"/>
          <p:nvPr/>
        </p:nvSpPr>
        <p:spPr>
          <a:xfrm rot="0">
            <a:off x="16550640" y="957072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572625"/>
            <a:ext cx="7315200" cy="485775"/>
            <a:chOff x="0" y="0"/>
            <a:chExt cx="97536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47700"/>
            </a:xfrm>
            <a:custGeom>
              <a:avLst/>
              <a:gdLst/>
              <a:ahLst/>
              <a:cxnLst/>
              <a:rect r="r" b="b" t="t" l="l"/>
              <a:pathLst>
                <a:path h="6477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421" r="0" b="-2434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541496"/>
            <a:ext cx="16459200" cy="1287304"/>
            <a:chOff x="0" y="0"/>
            <a:chExt cx="21945600" cy="1716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16405"/>
            </a:xfrm>
            <a:custGeom>
              <a:avLst/>
              <a:gdLst/>
              <a:ahLst/>
              <a:cxnLst/>
              <a:rect r="r" b="b" t="t" l="l"/>
              <a:pathLst>
                <a:path h="17164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31" r="0" b="-1991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Existing Systems Fall Short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103120"/>
            <a:ext cx="9326880" cy="457200"/>
            <a:chOff x="0" y="0"/>
            <a:chExt cx="1243584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35840" cy="609600"/>
            </a:xfrm>
            <a:custGeom>
              <a:avLst/>
              <a:gdLst/>
              <a:ahLst/>
              <a:cxnLst/>
              <a:rect r="r" b="b" t="t" l="l"/>
              <a:pathLst>
                <a:path h="6096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7218" r="0" b="-3472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067401"/>
            <a:ext cx="9326880" cy="492919"/>
            <a:chOff x="0" y="0"/>
            <a:chExt cx="12435840" cy="6572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35840" cy="657225"/>
            </a:xfrm>
            <a:custGeom>
              <a:avLst/>
              <a:gdLst/>
              <a:ahLst/>
              <a:cxnLst/>
              <a:rect r="r" b="b" t="t" l="l"/>
              <a:pathLst>
                <a:path h="657225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690" r="0" b="-3186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43584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APPROACHES AND THEIR LIMITS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2178" y="2629538"/>
            <a:ext cx="9371362" cy="1507522"/>
          </a:xfrm>
          <a:custGeom>
            <a:avLst/>
            <a:gdLst/>
            <a:ahLst/>
            <a:cxnLst/>
            <a:rect r="r" b="b" t="t" l="l"/>
            <a:pathLst>
              <a:path h="1507522" w="9371362">
                <a:moveTo>
                  <a:pt x="0" y="0"/>
                </a:moveTo>
                <a:lnTo>
                  <a:pt x="9371362" y="0"/>
                </a:lnTo>
                <a:lnTo>
                  <a:pt x="9371362" y="1507522"/>
                </a:lnTo>
                <a:lnTo>
                  <a:pt x="0" y="150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1362" y="2995298"/>
            <a:ext cx="776002" cy="776002"/>
          </a:xfrm>
          <a:custGeom>
            <a:avLst/>
            <a:gdLst/>
            <a:ahLst/>
            <a:cxnLst/>
            <a:rect r="r" b="b" t="t" l="l"/>
            <a:pathLst>
              <a:path h="776002" w="776002">
                <a:moveTo>
                  <a:pt x="0" y="0"/>
                </a:moveTo>
                <a:lnTo>
                  <a:pt x="776002" y="0"/>
                </a:lnTo>
                <a:lnTo>
                  <a:pt x="776002" y="776002"/>
                </a:lnTo>
                <a:lnTo>
                  <a:pt x="0" y="77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41094" y="3215030"/>
            <a:ext cx="336518" cy="336518"/>
            <a:chOff x="0" y="0"/>
            <a:chExt cx="448691" cy="448691"/>
          </a:xfrm>
        </p:grpSpPr>
        <p:sp>
          <p:nvSpPr>
            <p:cNvPr name="Freeform 20" id="20" descr="FaTimes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286000" y="2743200"/>
            <a:ext cx="7772400" cy="1280160"/>
            <a:chOff x="0" y="0"/>
            <a:chExt cx="1036320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219" r="0" b="-6822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286000" y="2693194"/>
            <a:ext cx="7772400" cy="1330166"/>
            <a:chOff x="0" y="0"/>
            <a:chExt cx="10363200" cy="17735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3200" cy="1773555"/>
            </a:xfrm>
            <a:custGeom>
              <a:avLst/>
              <a:gdLst/>
              <a:ahLst/>
              <a:cxnLst/>
              <a:rect r="r" b="b" t="t" l="l"/>
              <a:pathLst>
                <a:path h="1773555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73555"/>
                  </a:lnTo>
                  <a:lnTo>
                    <a:pt x="0" y="1773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54" r="0" b="-638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36320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FIFO Queue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priority: a medical delivery waits behind every earlier order.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92178" y="4275458"/>
            <a:ext cx="9371362" cy="1507522"/>
          </a:xfrm>
          <a:custGeom>
            <a:avLst/>
            <a:gdLst/>
            <a:ahLst/>
            <a:cxnLst/>
            <a:rect r="r" b="b" t="t" l="l"/>
            <a:pathLst>
              <a:path h="1507522" w="9371362">
                <a:moveTo>
                  <a:pt x="0" y="0"/>
                </a:moveTo>
                <a:lnTo>
                  <a:pt x="9371362" y="0"/>
                </a:lnTo>
                <a:lnTo>
                  <a:pt x="9371362" y="1507522"/>
                </a:lnTo>
                <a:lnTo>
                  <a:pt x="0" y="150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1362" y="4641218"/>
            <a:ext cx="776002" cy="776002"/>
          </a:xfrm>
          <a:custGeom>
            <a:avLst/>
            <a:gdLst/>
            <a:ahLst/>
            <a:cxnLst/>
            <a:rect r="r" b="b" t="t" l="l"/>
            <a:pathLst>
              <a:path h="776002" w="776002">
                <a:moveTo>
                  <a:pt x="0" y="0"/>
                </a:moveTo>
                <a:lnTo>
                  <a:pt x="776002" y="0"/>
                </a:lnTo>
                <a:lnTo>
                  <a:pt x="776002" y="776002"/>
                </a:lnTo>
                <a:lnTo>
                  <a:pt x="0" y="77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41094" y="4860950"/>
            <a:ext cx="336518" cy="336518"/>
            <a:chOff x="0" y="0"/>
            <a:chExt cx="448691" cy="448691"/>
          </a:xfrm>
        </p:grpSpPr>
        <p:sp>
          <p:nvSpPr>
            <p:cNvPr name="Freeform 29" id="29" descr="FaTimes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286000" y="4389120"/>
            <a:ext cx="7772400" cy="1280160"/>
            <a:chOff x="0" y="0"/>
            <a:chExt cx="10363200" cy="1706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219" r="0" b="-6822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286000" y="4339114"/>
            <a:ext cx="7772400" cy="1330166"/>
            <a:chOff x="0" y="0"/>
            <a:chExt cx="10363200" cy="17735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63200" cy="1773555"/>
            </a:xfrm>
            <a:custGeom>
              <a:avLst/>
              <a:gdLst/>
              <a:ahLst/>
              <a:cxnLst/>
              <a:rect r="r" b="b" t="t" l="l"/>
              <a:pathLst>
                <a:path h="1773555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73555"/>
                  </a:lnTo>
                  <a:lnTo>
                    <a:pt x="0" y="1773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54" r="0" b="-638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036320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Array / Linked List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Searching active orders costs O(n) on every lookup.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92178" y="5921378"/>
            <a:ext cx="9371362" cy="1507522"/>
          </a:xfrm>
          <a:custGeom>
            <a:avLst/>
            <a:gdLst/>
            <a:ahLst/>
            <a:cxnLst/>
            <a:rect r="r" b="b" t="t" l="l"/>
            <a:pathLst>
              <a:path h="1507522" w="9371362">
                <a:moveTo>
                  <a:pt x="0" y="0"/>
                </a:moveTo>
                <a:lnTo>
                  <a:pt x="9371362" y="0"/>
                </a:lnTo>
                <a:lnTo>
                  <a:pt x="9371362" y="1507522"/>
                </a:lnTo>
                <a:lnTo>
                  <a:pt x="0" y="150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21362" y="6287138"/>
            <a:ext cx="776002" cy="776002"/>
          </a:xfrm>
          <a:custGeom>
            <a:avLst/>
            <a:gdLst/>
            <a:ahLst/>
            <a:cxnLst/>
            <a:rect r="r" b="b" t="t" l="l"/>
            <a:pathLst>
              <a:path h="776002" w="776002">
                <a:moveTo>
                  <a:pt x="0" y="0"/>
                </a:moveTo>
                <a:lnTo>
                  <a:pt x="776002" y="0"/>
                </a:lnTo>
                <a:lnTo>
                  <a:pt x="776002" y="776002"/>
                </a:lnTo>
                <a:lnTo>
                  <a:pt x="0" y="77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441094" y="6506870"/>
            <a:ext cx="336518" cy="336518"/>
            <a:chOff x="0" y="0"/>
            <a:chExt cx="448691" cy="448691"/>
          </a:xfrm>
        </p:grpSpPr>
        <p:sp>
          <p:nvSpPr>
            <p:cNvPr name="Freeform 38" id="38" descr="FaTimes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286000" y="6035040"/>
            <a:ext cx="7772400" cy="1280160"/>
            <a:chOff x="0" y="0"/>
            <a:chExt cx="10363200" cy="1706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219" r="0" b="-6822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286000" y="5985034"/>
            <a:ext cx="7772400" cy="1330166"/>
            <a:chOff x="0" y="0"/>
            <a:chExt cx="10363200" cy="17735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63200" cy="1773555"/>
            </a:xfrm>
            <a:custGeom>
              <a:avLst/>
              <a:gdLst/>
              <a:ahLst/>
              <a:cxnLst/>
              <a:rect r="r" b="b" t="t" l="l"/>
              <a:pathLst>
                <a:path h="1773555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73555"/>
                  </a:lnTo>
                  <a:lnTo>
                    <a:pt x="0" y="1773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54" r="0" b="-6385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036320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 BST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skew into a straight line, degrading search to O(n).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892178" y="7567298"/>
            <a:ext cx="9371362" cy="1507522"/>
          </a:xfrm>
          <a:custGeom>
            <a:avLst/>
            <a:gdLst/>
            <a:ahLst/>
            <a:cxnLst/>
            <a:rect r="r" b="b" t="t" l="l"/>
            <a:pathLst>
              <a:path h="1507522" w="9371362">
                <a:moveTo>
                  <a:pt x="0" y="0"/>
                </a:moveTo>
                <a:lnTo>
                  <a:pt x="9371362" y="0"/>
                </a:lnTo>
                <a:lnTo>
                  <a:pt x="9371362" y="1507522"/>
                </a:lnTo>
                <a:lnTo>
                  <a:pt x="0" y="1507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21362" y="7933058"/>
            <a:ext cx="776002" cy="776002"/>
          </a:xfrm>
          <a:custGeom>
            <a:avLst/>
            <a:gdLst/>
            <a:ahLst/>
            <a:cxnLst/>
            <a:rect r="r" b="b" t="t" l="l"/>
            <a:pathLst>
              <a:path h="776002" w="776002">
                <a:moveTo>
                  <a:pt x="0" y="0"/>
                </a:moveTo>
                <a:lnTo>
                  <a:pt x="776002" y="0"/>
                </a:lnTo>
                <a:lnTo>
                  <a:pt x="776002" y="776002"/>
                </a:lnTo>
                <a:lnTo>
                  <a:pt x="0" y="77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41094" y="8152790"/>
            <a:ext cx="336518" cy="336518"/>
            <a:chOff x="0" y="0"/>
            <a:chExt cx="448691" cy="448691"/>
          </a:xfrm>
        </p:grpSpPr>
        <p:sp>
          <p:nvSpPr>
            <p:cNvPr name="Freeform 47" id="47" descr="FaTimes"/>
            <p:cNvSpPr/>
            <p:nvPr/>
          </p:nvSpPr>
          <p:spPr>
            <a:xfrm flipH="false" flipV="false" rot="0">
              <a:off x="0" y="0"/>
              <a:ext cx="448691" cy="448691"/>
            </a:xfrm>
            <a:custGeom>
              <a:avLst/>
              <a:gdLst/>
              <a:ahLst/>
              <a:cxnLst/>
              <a:rect r="r" b="b" t="t" l="l"/>
              <a:pathLst>
                <a:path h="448691" w="448691">
                  <a:moveTo>
                    <a:pt x="0" y="0"/>
                  </a:moveTo>
                  <a:lnTo>
                    <a:pt x="448691" y="0"/>
                  </a:lnTo>
                  <a:lnTo>
                    <a:pt x="448691" y="448691"/>
                  </a:lnTo>
                  <a:lnTo>
                    <a:pt x="0" y="448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286000" y="7680960"/>
            <a:ext cx="7772400" cy="1280160"/>
            <a:chOff x="0" y="0"/>
            <a:chExt cx="10363200" cy="1706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219" r="0" b="-6822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286000" y="7630954"/>
            <a:ext cx="7772400" cy="1330166"/>
            <a:chOff x="0" y="0"/>
            <a:chExt cx="10363200" cy="17735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63200" cy="1773555"/>
            </a:xfrm>
            <a:custGeom>
              <a:avLst/>
              <a:gdLst/>
              <a:ahLst/>
              <a:cxnLst/>
              <a:rect r="r" b="b" t="t" l="l"/>
              <a:pathLst>
                <a:path h="1773555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73555"/>
                  </a:lnTo>
                  <a:lnTo>
                    <a:pt x="0" y="1773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54" r="0" b="-638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036320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Heap</a:t>
              </a:r>
            </a:p>
            <a:p>
              <a:pPr algn="l">
                <a:lnSpc>
                  <a:spcPts val="2878"/>
                </a:lnSpc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Great for priority, but merging two hub queues takes O(n).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0767698" y="2080898"/>
            <a:ext cx="6628066" cy="5439346"/>
          </a:xfrm>
          <a:custGeom>
            <a:avLst/>
            <a:gdLst/>
            <a:ahLst/>
            <a:cxnLst/>
            <a:rect r="r" b="b" t="t" l="l"/>
            <a:pathLst>
              <a:path h="5439346" w="6628066">
                <a:moveTo>
                  <a:pt x="0" y="0"/>
                </a:moveTo>
                <a:lnTo>
                  <a:pt x="6628067" y="0"/>
                </a:lnTo>
                <a:lnTo>
                  <a:pt x="6628067" y="5439347"/>
                </a:lnTo>
                <a:lnTo>
                  <a:pt x="0" y="54393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0241280" y="1554480"/>
            <a:ext cx="7680960" cy="6492240"/>
            <a:chOff x="0" y="0"/>
            <a:chExt cx="10241280" cy="8656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0" cy="8656320"/>
            </a:xfrm>
            <a:custGeom>
              <a:avLst/>
              <a:gdLst/>
              <a:ahLst/>
              <a:cxnLst/>
              <a:rect r="r" b="b" t="t" l="l"/>
              <a:pathLst>
                <a:path h="86563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656320"/>
                  </a:lnTo>
                  <a:lnTo>
                    <a:pt x="0" y="8656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4" r="0" b="-54"/>
              </a:stretch>
            </a:blip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10767698" y="7750178"/>
            <a:ext cx="6628162" cy="1324642"/>
          </a:xfrm>
          <a:custGeom>
            <a:avLst/>
            <a:gdLst/>
            <a:ahLst/>
            <a:cxnLst/>
            <a:rect r="r" b="b" t="t" l="l"/>
            <a:pathLst>
              <a:path h="1324642" w="6628162">
                <a:moveTo>
                  <a:pt x="0" y="0"/>
                </a:moveTo>
                <a:lnTo>
                  <a:pt x="6628162" y="0"/>
                </a:lnTo>
                <a:lnTo>
                  <a:pt x="6628162" y="1324642"/>
                </a:lnTo>
                <a:lnTo>
                  <a:pt x="0" y="13246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1064240" y="7808976"/>
            <a:ext cx="6035040" cy="1207008"/>
            <a:chOff x="0" y="0"/>
            <a:chExt cx="8046720" cy="16093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046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064240" y="7780401"/>
            <a:ext cx="6035040" cy="1235583"/>
            <a:chOff x="0" y="0"/>
            <a:chExt cx="8046720" cy="16474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46720" cy="1647444"/>
            </a:xfrm>
            <a:custGeom>
              <a:avLst/>
              <a:gdLst/>
              <a:ahLst/>
              <a:cxnLst/>
              <a:rect r="r" b="b" t="t" l="l"/>
              <a:pathLst>
                <a:path h="1647444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7444"/>
                  </a:lnTo>
                  <a:lnTo>
                    <a:pt x="0" y="1647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72" r="0" b="-4517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046720" cy="1685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fix: </a:t>
              </a: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Binomial Heap + AVL + Treap give O(log n) worst-case guarantees.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6550640" y="957072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572625"/>
            <a:ext cx="7315200" cy="485775"/>
            <a:chOff x="0" y="0"/>
            <a:chExt cx="97536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47700"/>
            </a:xfrm>
            <a:custGeom>
              <a:avLst/>
              <a:gdLst/>
              <a:ahLst/>
              <a:cxnLst/>
              <a:rect r="r" b="b" t="t" l="l"/>
              <a:pathLst>
                <a:path h="6477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421" r="0" b="-2434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541496"/>
            <a:ext cx="16459200" cy="1287304"/>
            <a:chOff x="0" y="0"/>
            <a:chExt cx="21945600" cy="1716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16405"/>
            </a:xfrm>
            <a:custGeom>
              <a:avLst/>
              <a:gdLst/>
              <a:ahLst/>
              <a:cxnLst/>
              <a:rect r="r" b="b" t="t" l="l"/>
              <a:pathLst>
                <a:path h="17164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31" r="0" b="-1991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System: Three Pillars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2178" y="2172338"/>
            <a:ext cx="5256466" cy="3884866"/>
          </a:xfrm>
          <a:custGeom>
            <a:avLst/>
            <a:gdLst/>
            <a:ahLst/>
            <a:cxnLst/>
            <a:rect r="r" b="b" t="t" l="l"/>
            <a:pathLst>
              <a:path h="3884866" w="5256466">
                <a:moveTo>
                  <a:pt x="0" y="0"/>
                </a:moveTo>
                <a:lnTo>
                  <a:pt x="5256467" y="0"/>
                </a:lnTo>
                <a:lnTo>
                  <a:pt x="5256467" y="3884867"/>
                </a:lnTo>
                <a:lnTo>
                  <a:pt x="0" y="388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7938" y="2446658"/>
            <a:ext cx="1050226" cy="1050226"/>
          </a:xfrm>
          <a:custGeom>
            <a:avLst/>
            <a:gdLst/>
            <a:ahLst/>
            <a:cxnLst/>
            <a:rect r="r" b="b" t="t" l="l"/>
            <a:pathLst>
              <a:path h="1050226" w="1050226">
                <a:moveTo>
                  <a:pt x="0" y="0"/>
                </a:moveTo>
                <a:lnTo>
                  <a:pt x="1050227" y="0"/>
                </a:lnTo>
                <a:lnTo>
                  <a:pt x="1050227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51737" y="2740457"/>
            <a:ext cx="462724" cy="462724"/>
            <a:chOff x="0" y="0"/>
            <a:chExt cx="616966" cy="616966"/>
          </a:xfrm>
        </p:grpSpPr>
        <p:sp>
          <p:nvSpPr>
            <p:cNvPr name="Freeform 15" id="15" descr="FaLayerGroup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60320" y="2414016"/>
            <a:ext cx="3383280" cy="1133856"/>
            <a:chOff x="0" y="0"/>
            <a:chExt cx="4511040" cy="15118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0" r="0" b="-809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60320" y="2371154"/>
            <a:ext cx="3383280" cy="1176718"/>
            <a:chOff x="0" y="0"/>
            <a:chExt cx="4511040" cy="15689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11040" cy="1568958"/>
            </a:xfrm>
            <a:custGeom>
              <a:avLst/>
              <a:gdLst/>
              <a:ahLst/>
              <a:cxnLst/>
              <a:rect r="r" b="b" t="t" l="l"/>
              <a:pathLst>
                <a:path h="156895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68958"/>
                  </a:lnTo>
                  <a:lnTo>
                    <a:pt x="0" y="1568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3" r="0" b="-60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511040" cy="1626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Binomial Heap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PENDING QUEUE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80160" y="3764280"/>
            <a:ext cx="4572000" cy="20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Keyed by order priority (1-3)</a:t>
            </a:r>
          </a:p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Extract-min and hub merge in O(log n)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515738" y="2172338"/>
            <a:ext cx="5256466" cy="3884866"/>
          </a:xfrm>
          <a:custGeom>
            <a:avLst/>
            <a:gdLst/>
            <a:ahLst/>
            <a:cxnLst/>
            <a:rect r="r" b="b" t="t" l="l"/>
            <a:pathLst>
              <a:path h="3884866" w="5256466">
                <a:moveTo>
                  <a:pt x="0" y="0"/>
                </a:moveTo>
                <a:lnTo>
                  <a:pt x="5256467" y="0"/>
                </a:lnTo>
                <a:lnTo>
                  <a:pt x="5256467" y="3884867"/>
                </a:lnTo>
                <a:lnTo>
                  <a:pt x="0" y="388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81498" y="2446658"/>
            <a:ext cx="1050227" cy="1050226"/>
          </a:xfrm>
          <a:custGeom>
            <a:avLst/>
            <a:gdLst/>
            <a:ahLst/>
            <a:cxnLst/>
            <a:rect r="r" b="b" t="t" l="l"/>
            <a:pathLst>
              <a:path h="1050226" w="1050227">
                <a:moveTo>
                  <a:pt x="0" y="0"/>
                </a:moveTo>
                <a:lnTo>
                  <a:pt x="1050227" y="0"/>
                </a:lnTo>
                <a:lnTo>
                  <a:pt x="1050227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175297" y="2740457"/>
            <a:ext cx="462724" cy="462724"/>
            <a:chOff x="0" y="0"/>
            <a:chExt cx="616966" cy="616966"/>
          </a:xfrm>
        </p:grpSpPr>
        <p:sp>
          <p:nvSpPr>
            <p:cNvPr name="Freeform 25" id="25" descr="FaSitemap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83880" y="2414016"/>
            <a:ext cx="3383280" cy="1133856"/>
            <a:chOff x="0" y="0"/>
            <a:chExt cx="4511040" cy="1511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11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0" r="0" b="-809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83880" y="2371154"/>
            <a:ext cx="3383280" cy="1176718"/>
            <a:chOff x="0" y="0"/>
            <a:chExt cx="4511040" cy="15689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1040" cy="1568958"/>
            </a:xfrm>
            <a:custGeom>
              <a:avLst/>
              <a:gdLst/>
              <a:ahLst/>
              <a:cxnLst/>
              <a:rect r="r" b="b" t="t" l="l"/>
              <a:pathLst>
                <a:path h="156895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68958"/>
                  </a:lnTo>
                  <a:lnTo>
                    <a:pt x="0" y="1568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3" r="0" b="-60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4511040" cy="1626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 Tree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TRACKING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903720" y="3764280"/>
            <a:ext cx="4572000" cy="20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Height-balanced, keyed by order ID</a:t>
            </a:r>
          </a:p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Lookup, insert, complete in O(log n)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2139298" y="2172338"/>
            <a:ext cx="5256466" cy="3884866"/>
          </a:xfrm>
          <a:custGeom>
            <a:avLst/>
            <a:gdLst/>
            <a:ahLst/>
            <a:cxnLst/>
            <a:rect r="r" b="b" t="t" l="l"/>
            <a:pathLst>
              <a:path h="3884866" w="5256466">
                <a:moveTo>
                  <a:pt x="0" y="0"/>
                </a:moveTo>
                <a:lnTo>
                  <a:pt x="5256467" y="0"/>
                </a:lnTo>
                <a:lnTo>
                  <a:pt x="5256467" y="3884867"/>
                </a:lnTo>
                <a:lnTo>
                  <a:pt x="0" y="388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505058" y="2446658"/>
            <a:ext cx="1050226" cy="1050226"/>
          </a:xfrm>
          <a:custGeom>
            <a:avLst/>
            <a:gdLst/>
            <a:ahLst/>
            <a:cxnLst/>
            <a:rect r="r" b="b" t="t" l="l"/>
            <a:pathLst>
              <a:path h="1050226" w="1050226">
                <a:moveTo>
                  <a:pt x="0" y="0"/>
                </a:moveTo>
                <a:lnTo>
                  <a:pt x="1050227" y="0"/>
                </a:lnTo>
                <a:lnTo>
                  <a:pt x="1050227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798857" y="2740457"/>
            <a:ext cx="462724" cy="462724"/>
            <a:chOff x="0" y="0"/>
            <a:chExt cx="616966" cy="616966"/>
          </a:xfrm>
        </p:grpSpPr>
        <p:sp>
          <p:nvSpPr>
            <p:cNvPr name="Freeform 35" id="35" descr="FaUsers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616966"/>
                  </a:lnTo>
                  <a:lnTo>
                    <a:pt x="0" y="616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07440" y="2414016"/>
            <a:ext cx="3383280" cy="1133856"/>
            <a:chOff x="0" y="0"/>
            <a:chExt cx="4511040" cy="15118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10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00" r="0" b="-8099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807440" y="2371154"/>
            <a:ext cx="3383280" cy="1176718"/>
            <a:chOff x="0" y="0"/>
            <a:chExt cx="4511040" cy="15689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11040" cy="1568958"/>
            </a:xfrm>
            <a:custGeom>
              <a:avLst/>
              <a:gdLst/>
              <a:ahLst/>
              <a:cxnLst/>
              <a:rect r="r" b="b" t="t" l="l"/>
              <a:pathLst>
                <a:path h="156895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568958"/>
                  </a:lnTo>
                  <a:lnTo>
                    <a:pt x="0" y="1568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3" r="0" b="-602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4511040" cy="1626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 FLEET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527280" y="3764280"/>
            <a:ext cx="4572000" cy="20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BST on driver ID, max-heap on score</a:t>
            </a:r>
          </a:p>
          <a:p>
            <a:pPr algn="l" marL="579120" indent="-193040" lvl="2">
              <a:lnSpc>
                <a:spcPts val="2878"/>
              </a:lnSpc>
              <a:buFont typeface="Arial"/>
              <a:buChar char="⚬"/>
            </a:pPr>
            <a:r>
              <a:rPr lang="en-US" sz="24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Best driver found in O(log n)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6400800"/>
            <a:ext cx="9144000" cy="457200"/>
            <a:chOff x="0" y="0"/>
            <a:chExt cx="121920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29" r="0" b="-33943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" y="6365081"/>
            <a:ext cx="9144000" cy="492919"/>
            <a:chOff x="0" y="0"/>
            <a:chExt cx="12192000" cy="6572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0" cy="657225"/>
            </a:xfrm>
            <a:custGeom>
              <a:avLst/>
              <a:gdLst/>
              <a:ahLst/>
              <a:cxnLst/>
              <a:rect r="r" b="b" t="t" l="l"/>
              <a:pathLst>
                <a:path h="6572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461" r="0" b="-31146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DISPATCH WORKFLOW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92178" y="7018658"/>
            <a:ext cx="2787586" cy="2056066"/>
          </a:xfrm>
          <a:custGeom>
            <a:avLst/>
            <a:gdLst/>
            <a:ahLst/>
            <a:cxnLst/>
            <a:rect r="r" b="b" t="t" l="l"/>
            <a:pathLst>
              <a:path h="2056066" w="2787586">
                <a:moveTo>
                  <a:pt x="0" y="0"/>
                </a:moveTo>
                <a:lnTo>
                  <a:pt x="2787587" y="0"/>
                </a:lnTo>
                <a:lnTo>
                  <a:pt x="2787587" y="2056067"/>
                </a:lnTo>
                <a:lnTo>
                  <a:pt x="0" y="20560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60704" y="7095744"/>
            <a:ext cx="2450592" cy="1901952"/>
            <a:chOff x="0" y="0"/>
            <a:chExt cx="3267456" cy="25359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67456" cy="2535936"/>
            </a:xfrm>
            <a:custGeom>
              <a:avLst/>
              <a:gdLst/>
              <a:ahLst/>
              <a:cxnLst/>
              <a:rect r="r" b="b" t="t" l="l"/>
              <a:pathLst>
                <a:path h="25359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48" t="0" r="-49648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60704" y="7067169"/>
            <a:ext cx="2450592" cy="1930527"/>
            <a:chOff x="0" y="0"/>
            <a:chExt cx="3267456" cy="25740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67456" cy="2574036"/>
            </a:xfrm>
            <a:custGeom>
              <a:avLst/>
              <a:gdLst/>
              <a:ahLst/>
              <a:cxnLst/>
              <a:rect r="r" b="b" t="t" l="l"/>
              <a:pathLst>
                <a:path h="25740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74036"/>
                  </a:lnTo>
                  <a:lnTo>
                    <a:pt x="0" y="2574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074" t="0" r="-5107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267456" cy="2612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order enters Binomial Heap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3726818" y="7805042"/>
            <a:ext cx="556546" cy="483394"/>
          </a:xfrm>
          <a:custGeom>
            <a:avLst/>
            <a:gdLst/>
            <a:ahLst/>
            <a:cxnLst/>
            <a:rect r="r" b="b" t="t" l="l"/>
            <a:pathLst>
              <a:path h="483394" w="556546">
                <a:moveTo>
                  <a:pt x="0" y="0"/>
                </a:moveTo>
                <a:lnTo>
                  <a:pt x="556546" y="0"/>
                </a:lnTo>
                <a:lnTo>
                  <a:pt x="556546" y="483394"/>
                </a:lnTo>
                <a:lnTo>
                  <a:pt x="0" y="4833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321178" y="7018658"/>
            <a:ext cx="2787586" cy="2056066"/>
          </a:xfrm>
          <a:custGeom>
            <a:avLst/>
            <a:gdLst/>
            <a:ahLst/>
            <a:cxnLst/>
            <a:rect r="r" b="b" t="t" l="l"/>
            <a:pathLst>
              <a:path h="2056066" w="2787586">
                <a:moveTo>
                  <a:pt x="0" y="0"/>
                </a:moveTo>
                <a:lnTo>
                  <a:pt x="2787587" y="0"/>
                </a:lnTo>
                <a:lnTo>
                  <a:pt x="2787587" y="2056067"/>
                </a:lnTo>
                <a:lnTo>
                  <a:pt x="0" y="20560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4489704" y="7095744"/>
            <a:ext cx="2450592" cy="1901952"/>
            <a:chOff x="0" y="0"/>
            <a:chExt cx="3267456" cy="25359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67456" cy="2535936"/>
            </a:xfrm>
            <a:custGeom>
              <a:avLst/>
              <a:gdLst/>
              <a:ahLst/>
              <a:cxnLst/>
              <a:rect r="r" b="b" t="t" l="l"/>
              <a:pathLst>
                <a:path h="25359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48" t="0" r="-49648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489704" y="7067169"/>
            <a:ext cx="2450592" cy="1930527"/>
            <a:chOff x="0" y="0"/>
            <a:chExt cx="3267456" cy="25740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67456" cy="2574036"/>
            </a:xfrm>
            <a:custGeom>
              <a:avLst/>
              <a:gdLst/>
              <a:ahLst/>
              <a:cxnLst/>
              <a:rect r="r" b="b" t="t" l="l"/>
              <a:pathLst>
                <a:path h="25740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74036"/>
                  </a:lnTo>
                  <a:lnTo>
                    <a:pt x="0" y="2574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074" t="0" r="-5107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267456" cy="2612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Dispatch: extract-min order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7155818" y="7805042"/>
            <a:ext cx="556546" cy="483394"/>
          </a:xfrm>
          <a:custGeom>
            <a:avLst/>
            <a:gdLst/>
            <a:ahLst/>
            <a:cxnLst/>
            <a:rect r="r" b="b" t="t" l="l"/>
            <a:pathLst>
              <a:path h="483394" w="556546">
                <a:moveTo>
                  <a:pt x="0" y="0"/>
                </a:moveTo>
                <a:lnTo>
                  <a:pt x="556546" y="0"/>
                </a:lnTo>
                <a:lnTo>
                  <a:pt x="556546" y="483394"/>
                </a:lnTo>
                <a:lnTo>
                  <a:pt x="0" y="4833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7750178" y="7018658"/>
            <a:ext cx="2787586" cy="2056066"/>
          </a:xfrm>
          <a:custGeom>
            <a:avLst/>
            <a:gdLst/>
            <a:ahLst/>
            <a:cxnLst/>
            <a:rect r="r" b="b" t="t" l="l"/>
            <a:pathLst>
              <a:path h="2056066" w="2787586">
                <a:moveTo>
                  <a:pt x="0" y="0"/>
                </a:moveTo>
                <a:lnTo>
                  <a:pt x="2787587" y="0"/>
                </a:lnTo>
                <a:lnTo>
                  <a:pt x="2787587" y="2056067"/>
                </a:lnTo>
                <a:lnTo>
                  <a:pt x="0" y="205606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7918704" y="7095744"/>
            <a:ext cx="2450592" cy="1901952"/>
            <a:chOff x="0" y="0"/>
            <a:chExt cx="3267456" cy="25359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67456" cy="2535936"/>
            </a:xfrm>
            <a:custGeom>
              <a:avLst/>
              <a:gdLst/>
              <a:ahLst/>
              <a:cxnLst/>
              <a:rect r="r" b="b" t="t" l="l"/>
              <a:pathLst>
                <a:path h="25359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48" t="0" r="-49648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918704" y="7067169"/>
            <a:ext cx="2450592" cy="1930527"/>
            <a:chOff x="0" y="0"/>
            <a:chExt cx="3267456" cy="25740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67456" cy="2574036"/>
            </a:xfrm>
            <a:custGeom>
              <a:avLst/>
              <a:gdLst/>
              <a:ahLst/>
              <a:cxnLst/>
              <a:rect r="r" b="b" t="t" l="l"/>
              <a:pathLst>
                <a:path h="25740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74036"/>
                  </a:lnTo>
                  <a:lnTo>
                    <a:pt x="0" y="2574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074" t="0" r="-5107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267456" cy="2612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Extract-max driver from Treap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584818" y="7805042"/>
            <a:ext cx="556546" cy="483394"/>
          </a:xfrm>
          <a:custGeom>
            <a:avLst/>
            <a:gdLst/>
            <a:ahLst/>
            <a:cxnLst/>
            <a:rect r="r" b="b" t="t" l="l"/>
            <a:pathLst>
              <a:path h="483394" w="556546">
                <a:moveTo>
                  <a:pt x="0" y="0"/>
                </a:moveTo>
                <a:lnTo>
                  <a:pt x="556546" y="0"/>
                </a:lnTo>
                <a:lnTo>
                  <a:pt x="556546" y="483394"/>
                </a:lnTo>
                <a:lnTo>
                  <a:pt x="0" y="4833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1179178" y="7018658"/>
            <a:ext cx="2787586" cy="2056066"/>
          </a:xfrm>
          <a:custGeom>
            <a:avLst/>
            <a:gdLst/>
            <a:ahLst/>
            <a:cxnLst/>
            <a:rect r="r" b="b" t="t" l="l"/>
            <a:pathLst>
              <a:path h="2056066" w="2787586">
                <a:moveTo>
                  <a:pt x="0" y="0"/>
                </a:moveTo>
                <a:lnTo>
                  <a:pt x="2787587" y="0"/>
                </a:lnTo>
                <a:lnTo>
                  <a:pt x="2787587" y="2056067"/>
                </a:lnTo>
                <a:lnTo>
                  <a:pt x="0" y="205606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1347704" y="7095744"/>
            <a:ext cx="2450592" cy="1901952"/>
            <a:chOff x="0" y="0"/>
            <a:chExt cx="3267456" cy="25359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67456" cy="2535936"/>
            </a:xfrm>
            <a:custGeom>
              <a:avLst/>
              <a:gdLst/>
              <a:ahLst/>
              <a:cxnLst/>
              <a:rect r="r" b="b" t="t" l="l"/>
              <a:pathLst>
                <a:path h="25359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48" t="0" r="-49648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347704" y="7067169"/>
            <a:ext cx="2450592" cy="1930527"/>
            <a:chOff x="0" y="0"/>
            <a:chExt cx="3267456" cy="25740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67456" cy="2574036"/>
            </a:xfrm>
            <a:custGeom>
              <a:avLst/>
              <a:gdLst/>
              <a:ahLst/>
              <a:cxnLst/>
              <a:rect r="r" b="b" t="t" l="l"/>
              <a:pathLst>
                <a:path h="25740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74036"/>
                  </a:lnTo>
                  <a:lnTo>
                    <a:pt x="0" y="2574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074" t="0" r="-5107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267456" cy="2612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Pair and insert into AVL Tree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14013818" y="7805042"/>
            <a:ext cx="556546" cy="483394"/>
          </a:xfrm>
          <a:custGeom>
            <a:avLst/>
            <a:gdLst/>
            <a:ahLst/>
            <a:cxnLst/>
            <a:rect r="r" b="b" t="t" l="l"/>
            <a:pathLst>
              <a:path h="483394" w="556546">
                <a:moveTo>
                  <a:pt x="0" y="0"/>
                </a:moveTo>
                <a:lnTo>
                  <a:pt x="556546" y="0"/>
                </a:lnTo>
                <a:lnTo>
                  <a:pt x="556546" y="483394"/>
                </a:lnTo>
                <a:lnTo>
                  <a:pt x="0" y="4833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4608178" y="7018658"/>
            <a:ext cx="2787586" cy="2056066"/>
          </a:xfrm>
          <a:custGeom>
            <a:avLst/>
            <a:gdLst/>
            <a:ahLst/>
            <a:cxnLst/>
            <a:rect r="r" b="b" t="t" l="l"/>
            <a:pathLst>
              <a:path h="2056066" w="2787586">
                <a:moveTo>
                  <a:pt x="0" y="0"/>
                </a:moveTo>
                <a:lnTo>
                  <a:pt x="2787587" y="0"/>
                </a:lnTo>
                <a:lnTo>
                  <a:pt x="2787587" y="2056067"/>
                </a:lnTo>
                <a:lnTo>
                  <a:pt x="0" y="205606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4776704" y="7095744"/>
            <a:ext cx="2450592" cy="1901952"/>
            <a:chOff x="0" y="0"/>
            <a:chExt cx="3267456" cy="25359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67456" cy="2535936"/>
            </a:xfrm>
            <a:custGeom>
              <a:avLst/>
              <a:gdLst/>
              <a:ahLst/>
              <a:cxnLst/>
              <a:rect r="r" b="b" t="t" l="l"/>
              <a:pathLst>
                <a:path h="25359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648" t="0" r="-49648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776704" y="7067169"/>
            <a:ext cx="2450592" cy="1930527"/>
            <a:chOff x="0" y="0"/>
            <a:chExt cx="3267456" cy="25740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67456" cy="2574036"/>
            </a:xfrm>
            <a:custGeom>
              <a:avLst/>
              <a:gdLst/>
              <a:ahLst/>
              <a:cxnLst/>
              <a:rect r="r" b="b" t="t" l="l"/>
              <a:pathLst>
                <a:path h="2574036" w="3267456">
                  <a:moveTo>
                    <a:pt x="0" y="0"/>
                  </a:moveTo>
                  <a:lnTo>
                    <a:pt x="3267456" y="0"/>
                  </a:lnTo>
                  <a:lnTo>
                    <a:pt x="3267456" y="2574036"/>
                  </a:lnTo>
                  <a:lnTo>
                    <a:pt x="0" y="2574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074" t="0" r="-51074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267456" cy="2612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Delivered: leaves AVL, driver returns to Treap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6550640" y="957072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572625"/>
            <a:ext cx="7315200" cy="485775"/>
            <a:chOff x="0" y="0"/>
            <a:chExt cx="9753600" cy="64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47700"/>
            </a:xfrm>
            <a:custGeom>
              <a:avLst/>
              <a:gdLst/>
              <a:ahLst/>
              <a:cxnLst/>
              <a:rect r="r" b="b" t="t" l="l"/>
              <a:pathLst>
                <a:path h="6477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421" r="0" b="-24342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541496"/>
            <a:ext cx="16459200" cy="1287304"/>
            <a:chOff x="0" y="0"/>
            <a:chExt cx="21945600" cy="17164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16405"/>
            </a:xfrm>
            <a:custGeom>
              <a:avLst/>
              <a:gdLst/>
              <a:ahLst/>
              <a:cxnLst/>
              <a:rect r="r" b="b" t="t" l="l"/>
              <a:pathLst>
                <a:path h="17164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31" r="0" b="-1991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Tools and Technologies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103120"/>
            <a:ext cx="10972800" cy="457200"/>
            <a:chOff x="0" y="0"/>
            <a:chExt cx="146304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316" r="0" b="-4173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067401"/>
            <a:ext cx="10972800" cy="492919"/>
            <a:chOff x="0" y="0"/>
            <a:chExt cx="14630400" cy="6572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657225"/>
            </a:xfrm>
            <a:custGeom>
              <a:avLst/>
              <a:gdLst/>
              <a:ahLst/>
              <a:cxnLst/>
              <a:rect r="r" b="b" t="t" l="l"/>
              <a:pathLst>
                <a:path h="65722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753" r="0" b="-3837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630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 LAYOUT IN RAW C++ (CONCEPTUAL)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92178" y="2629538"/>
            <a:ext cx="5256562" cy="2879122"/>
          </a:xfrm>
          <a:custGeom>
            <a:avLst/>
            <a:gdLst/>
            <a:ahLst/>
            <a:cxnLst/>
            <a:rect r="r" b="b" t="t" l="l"/>
            <a:pathLst>
              <a:path h="2879122" w="5256562">
                <a:moveTo>
                  <a:pt x="0" y="0"/>
                </a:moveTo>
                <a:lnTo>
                  <a:pt x="5256562" y="0"/>
                </a:lnTo>
                <a:lnTo>
                  <a:pt x="5256562" y="2879122"/>
                </a:lnTo>
                <a:lnTo>
                  <a:pt x="0" y="287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80160" y="2779776"/>
            <a:ext cx="4572000" cy="640080"/>
            <a:chOff x="0" y="0"/>
            <a:chExt cx="60960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081" r="0" b="-8908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2729770"/>
            <a:ext cx="4572000" cy="690086"/>
            <a:chOff x="0" y="0"/>
            <a:chExt cx="6096000" cy="9201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920115"/>
            </a:xfrm>
            <a:custGeom>
              <a:avLst/>
              <a:gdLst/>
              <a:ahLst/>
              <a:cxnLst/>
              <a:rect r="r" b="b" t="t" l="l"/>
              <a:pathLst>
                <a:path h="92011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0115"/>
                  </a:lnTo>
                  <a:lnTo>
                    <a:pt x="0" y="920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93" r="0" b="-790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096000" cy="98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BinomialNode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0160" y="3455670"/>
            <a:ext cx="466344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id, priority;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degree;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 *parent, *child;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 *sibling;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515738" y="2629538"/>
            <a:ext cx="5256562" cy="2879122"/>
          </a:xfrm>
          <a:custGeom>
            <a:avLst/>
            <a:gdLst/>
            <a:ahLst/>
            <a:cxnLst/>
            <a:rect r="r" b="b" t="t" l="l"/>
            <a:pathLst>
              <a:path h="2879122" w="5256562">
                <a:moveTo>
                  <a:pt x="0" y="0"/>
                </a:moveTo>
                <a:lnTo>
                  <a:pt x="5256562" y="0"/>
                </a:lnTo>
                <a:lnTo>
                  <a:pt x="5256562" y="2879122"/>
                </a:lnTo>
                <a:lnTo>
                  <a:pt x="0" y="287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903720" y="2779776"/>
            <a:ext cx="4572000" cy="640080"/>
            <a:chOff x="0" y="0"/>
            <a:chExt cx="609600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081" r="0" b="-8908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03720" y="2729770"/>
            <a:ext cx="4572000" cy="690086"/>
            <a:chOff x="0" y="0"/>
            <a:chExt cx="6096000" cy="9201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0" cy="920115"/>
            </a:xfrm>
            <a:custGeom>
              <a:avLst/>
              <a:gdLst/>
              <a:ahLst/>
              <a:cxnLst/>
              <a:rect r="r" b="b" t="t" l="l"/>
              <a:pathLst>
                <a:path h="92011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0115"/>
                  </a:lnTo>
                  <a:lnTo>
                    <a:pt x="0" y="920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93" r="0" b="-7909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096000" cy="98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5CC8C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AVLNode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903720" y="3455670"/>
            <a:ext cx="466344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orderId, driverId;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height;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 *left, *right;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139298" y="2629538"/>
            <a:ext cx="5256562" cy="2879122"/>
          </a:xfrm>
          <a:custGeom>
            <a:avLst/>
            <a:gdLst/>
            <a:ahLst/>
            <a:cxnLst/>
            <a:rect r="r" b="b" t="t" l="l"/>
            <a:pathLst>
              <a:path h="2879122" w="5256562">
                <a:moveTo>
                  <a:pt x="0" y="0"/>
                </a:moveTo>
                <a:lnTo>
                  <a:pt x="5256562" y="0"/>
                </a:lnTo>
                <a:lnTo>
                  <a:pt x="5256562" y="2879122"/>
                </a:lnTo>
                <a:lnTo>
                  <a:pt x="0" y="287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527280" y="2779776"/>
            <a:ext cx="4572000" cy="640080"/>
            <a:chOff x="0" y="0"/>
            <a:chExt cx="60960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853440"/>
            </a:xfrm>
            <a:custGeom>
              <a:avLst/>
              <a:gdLst/>
              <a:ahLst/>
              <a:cxnLst/>
              <a:rect r="r" b="b" t="t" l="l"/>
              <a:pathLst>
                <a:path h="8534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081" r="0" b="-89081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27280" y="2729770"/>
            <a:ext cx="4572000" cy="690086"/>
            <a:chOff x="0" y="0"/>
            <a:chExt cx="6096000" cy="9201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920115"/>
            </a:xfrm>
            <a:custGeom>
              <a:avLst/>
              <a:gdLst/>
              <a:ahLst/>
              <a:cxnLst/>
              <a:rect r="r" b="b" t="t" l="l"/>
              <a:pathLst>
                <a:path h="92011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0115"/>
                  </a:lnTo>
                  <a:lnTo>
                    <a:pt x="0" y="920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93" r="0" b="-790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6096000" cy="986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8FB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TreapNode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27280" y="3455670"/>
            <a:ext cx="466344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driverId;  // BST key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 score;     // max-heap</a:t>
            </a:r>
          </a:p>
          <a:p>
            <a:pPr algn="l">
              <a:lnSpc>
                <a:spcPts val="2638"/>
              </a:lnSpc>
            </a:pPr>
            <a:r>
              <a:rPr lang="en-US" sz="21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Node *left, *right;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4400" y="5852160"/>
            <a:ext cx="7315200" cy="457200"/>
            <a:chOff x="0" y="0"/>
            <a:chExt cx="97536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543" r="0" b="-26154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5816441"/>
            <a:ext cx="7315200" cy="492919"/>
            <a:chOff x="0" y="0"/>
            <a:chExt cx="9753600" cy="6572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657225"/>
            </a:xfrm>
            <a:custGeom>
              <a:avLst/>
              <a:gdLst/>
              <a:ahLst/>
              <a:cxnLst/>
              <a:rect r="r" b="b" t="t" l="l"/>
              <a:pathLst>
                <a:path h="65722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69" r="0" b="-2391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7536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TOOLCHAIN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92178" y="6378578"/>
            <a:ext cx="2421826" cy="2696147"/>
          </a:xfrm>
          <a:custGeom>
            <a:avLst/>
            <a:gdLst/>
            <a:ahLst/>
            <a:cxnLst/>
            <a:rect r="r" b="b" t="t" l="l"/>
            <a:pathLst>
              <a:path h="2696147" w="2421826">
                <a:moveTo>
                  <a:pt x="0" y="0"/>
                </a:moveTo>
                <a:lnTo>
                  <a:pt x="2421827" y="0"/>
                </a:lnTo>
                <a:lnTo>
                  <a:pt x="2421827" y="2696147"/>
                </a:lnTo>
                <a:lnTo>
                  <a:pt x="0" y="2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060704" y="6492240"/>
            <a:ext cx="2084832" cy="2468880"/>
            <a:chOff x="0" y="0"/>
            <a:chExt cx="2779776" cy="329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9776" cy="3291840"/>
            </a:xfrm>
            <a:custGeom>
              <a:avLst/>
              <a:gdLst/>
              <a:ahLst/>
              <a:cxnLst/>
              <a:rect r="r" b="b" t="t" l="l"/>
              <a:pathLst>
                <a:path h="329184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044" t="0" r="-102044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60704" y="6442234"/>
            <a:ext cx="2084832" cy="2518886"/>
            <a:chOff x="0" y="0"/>
            <a:chExt cx="2779776" cy="335851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79776" cy="3358515"/>
            </a:xfrm>
            <a:custGeom>
              <a:avLst/>
              <a:gdLst/>
              <a:ahLst/>
              <a:cxnLst/>
              <a:rect r="r" b="b" t="t" l="l"/>
              <a:pathLst>
                <a:path h="3358515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358515"/>
                  </a:lnTo>
                  <a:lnTo>
                    <a:pt x="0" y="3358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15" t="0" r="-10501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2779776" cy="3425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C++17</a:t>
              </a:r>
            </a:p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Language standard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3543938" y="6378578"/>
            <a:ext cx="2421826" cy="2696147"/>
          </a:xfrm>
          <a:custGeom>
            <a:avLst/>
            <a:gdLst/>
            <a:ahLst/>
            <a:cxnLst/>
            <a:rect r="r" b="b" t="t" l="l"/>
            <a:pathLst>
              <a:path h="2696147" w="2421826">
                <a:moveTo>
                  <a:pt x="0" y="0"/>
                </a:moveTo>
                <a:lnTo>
                  <a:pt x="2421827" y="0"/>
                </a:lnTo>
                <a:lnTo>
                  <a:pt x="2421827" y="2696147"/>
                </a:lnTo>
                <a:lnTo>
                  <a:pt x="0" y="2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712464" y="6492240"/>
            <a:ext cx="2084832" cy="2468880"/>
            <a:chOff x="0" y="0"/>
            <a:chExt cx="2779776" cy="3291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79776" cy="3291840"/>
            </a:xfrm>
            <a:custGeom>
              <a:avLst/>
              <a:gdLst/>
              <a:ahLst/>
              <a:cxnLst/>
              <a:rect r="r" b="b" t="t" l="l"/>
              <a:pathLst>
                <a:path h="329184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044" t="0" r="-10204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712464" y="6442234"/>
            <a:ext cx="2084832" cy="2518886"/>
            <a:chOff x="0" y="0"/>
            <a:chExt cx="2779776" cy="335851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79776" cy="3358515"/>
            </a:xfrm>
            <a:custGeom>
              <a:avLst/>
              <a:gdLst/>
              <a:ahLst/>
              <a:cxnLst/>
              <a:rect r="r" b="b" t="t" l="l"/>
              <a:pathLst>
                <a:path h="3358515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358515"/>
                  </a:lnTo>
                  <a:lnTo>
                    <a:pt x="0" y="3358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15" t="0" r="-105015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2779776" cy="3425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cpp httplib</a:t>
              </a:r>
            </a:p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REST API integration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195698" y="6378578"/>
            <a:ext cx="2421826" cy="2696147"/>
          </a:xfrm>
          <a:custGeom>
            <a:avLst/>
            <a:gdLst/>
            <a:ahLst/>
            <a:cxnLst/>
            <a:rect r="r" b="b" t="t" l="l"/>
            <a:pathLst>
              <a:path h="2696147" w="2421826">
                <a:moveTo>
                  <a:pt x="0" y="0"/>
                </a:moveTo>
                <a:lnTo>
                  <a:pt x="2421827" y="0"/>
                </a:lnTo>
                <a:lnTo>
                  <a:pt x="2421827" y="2696147"/>
                </a:lnTo>
                <a:lnTo>
                  <a:pt x="0" y="269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6364224" y="6492240"/>
            <a:ext cx="2084832" cy="2468880"/>
            <a:chOff x="0" y="0"/>
            <a:chExt cx="2779776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79776" cy="3291840"/>
            </a:xfrm>
            <a:custGeom>
              <a:avLst/>
              <a:gdLst/>
              <a:ahLst/>
              <a:cxnLst/>
              <a:rect r="r" b="b" t="t" l="l"/>
              <a:pathLst>
                <a:path h="329184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044" t="0" r="-102044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364224" y="6442234"/>
            <a:ext cx="2084832" cy="2518886"/>
            <a:chOff x="0" y="0"/>
            <a:chExt cx="2779776" cy="33585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79776" cy="3358515"/>
            </a:xfrm>
            <a:custGeom>
              <a:avLst/>
              <a:gdLst/>
              <a:ahLst/>
              <a:cxnLst/>
              <a:rect r="r" b="b" t="t" l="l"/>
              <a:pathLst>
                <a:path h="3358515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3358515"/>
                  </a:lnTo>
                  <a:lnTo>
                    <a:pt x="0" y="33585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015" t="0" r="-10501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2779776" cy="3425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iostream</a:t>
              </a:r>
            </a:p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 for data extraction only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26880" y="5852160"/>
            <a:ext cx="8046720" cy="457200"/>
            <a:chOff x="0" y="0"/>
            <a:chExt cx="1072896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728960" cy="609600"/>
            </a:xfrm>
            <a:custGeom>
              <a:avLst/>
              <a:gdLst/>
              <a:ahLst/>
              <a:cxnLst/>
              <a:rect r="r" b="b" t="t" l="l"/>
              <a:pathLst>
                <a:path h="609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697" r="0" b="-292697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326880" y="5816441"/>
            <a:ext cx="8046720" cy="492919"/>
            <a:chOff x="0" y="0"/>
            <a:chExt cx="10728960" cy="6572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28960" cy="657225"/>
            </a:xfrm>
            <a:custGeom>
              <a:avLst/>
              <a:gdLst/>
              <a:ahLst/>
              <a:cxnLst/>
              <a:rect r="r" b="b" t="t" l="l"/>
              <a:pathLst>
                <a:path h="65722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86" r="0" b="-26808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72896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b="true" sz="2199" spc="398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MANAGEMENT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9304658" y="6378578"/>
            <a:ext cx="8091202" cy="2696242"/>
          </a:xfrm>
          <a:custGeom>
            <a:avLst/>
            <a:gdLst/>
            <a:ahLst/>
            <a:cxnLst/>
            <a:rect r="r" b="b" t="t" l="l"/>
            <a:pathLst>
              <a:path h="2696242" w="8091202">
                <a:moveTo>
                  <a:pt x="0" y="0"/>
                </a:moveTo>
                <a:lnTo>
                  <a:pt x="8091202" y="0"/>
                </a:lnTo>
                <a:lnTo>
                  <a:pt x="8091202" y="2696242"/>
                </a:lnTo>
                <a:lnTo>
                  <a:pt x="0" y="2696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9578978" y="6561458"/>
            <a:ext cx="867442" cy="867442"/>
          </a:xfrm>
          <a:custGeom>
            <a:avLst/>
            <a:gdLst/>
            <a:ahLst/>
            <a:cxnLst/>
            <a:rect r="r" b="b" t="t" l="l"/>
            <a:pathLst>
              <a:path h="867442" w="867442">
                <a:moveTo>
                  <a:pt x="0" y="0"/>
                </a:moveTo>
                <a:lnTo>
                  <a:pt x="867442" y="0"/>
                </a:lnTo>
                <a:lnTo>
                  <a:pt x="867442" y="867442"/>
                </a:lnTo>
                <a:lnTo>
                  <a:pt x="0" y="867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9823399" y="6805879"/>
            <a:ext cx="378524" cy="378524"/>
            <a:chOff x="0" y="0"/>
            <a:chExt cx="504698" cy="504698"/>
          </a:xfrm>
        </p:grpSpPr>
        <p:sp>
          <p:nvSpPr>
            <p:cNvPr name="Freeform 69" id="69" descr="FaMemory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698480" y="6492240"/>
            <a:ext cx="6492240" cy="2468880"/>
            <a:chOff x="0" y="0"/>
            <a:chExt cx="8656320" cy="3291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6563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" r="0" b="-120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698480" y="6463665"/>
            <a:ext cx="6492240" cy="2497455"/>
            <a:chOff x="0" y="0"/>
            <a:chExt cx="8656320" cy="33299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656320" cy="3329940"/>
            </a:xfrm>
            <a:custGeom>
              <a:avLst/>
              <a:gdLst/>
              <a:ahLst/>
              <a:cxnLst/>
              <a:rect r="r" b="b" t="t" l="l"/>
              <a:pathLst>
                <a:path h="3329940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2" r="0" b="-65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65632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193040" lvl="2">
                <a:lnSpc>
                  <a:spcPts val="2878"/>
                </a:lnSpc>
                <a:buFont typeface="Arial"/>
                <a:buChar char="⚬"/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 allocated with new, freed by destructors</a:t>
              </a:r>
            </a:p>
            <a:p>
              <a:pPr algn="l" marL="579120" indent="-193040" lvl="2">
                <a:lnSpc>
                  <a:spcPts val="2878"/>
                </a:lnSpc>
                <a:buFont typeface="Arial"/>
                <a:buChar char="⚬"/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nullptr guards in every rotation and merge</a:t>
              </a:r>
            </a:p>
            <a:p>
              <a:pPr algn="l" marL="579120" indent="-193040" lvl="2">
                <a:lnSpc>
                  <a:spcPts val="2878"/>
                </a:lnSpc>
                <a:buFont typeface="Arial"/>
                <a:buChar char="⚬"/>
              </a:pPr>
              <a:r>
                <a:rPr lang="en-US" sz="2400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garbage collector: predictable dispatch latency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6550640" y="9570720"/>
            <a:ext cx="731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and 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&amp; WORKFLOW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651760"/>
            <a:ext cx="5239512" cy="2743200"/>
            <a:chOff x="0" y="0"/>
            <a:chExt cx="6986016" cy="36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6015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86015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376"/>
                    <a:pt x="6986015" y="195072"/>
                  </a:cubicBezTo>
                  <a:lnTo>
                    <a:pt x="6986015" y="3462528"/>
                  </a:lnTo>
                  <a:cubicBezTo>
                    <a:pt x="6986015" y="3570224"/>
                    <a:pt x="6898639" y="3657600"/>
                    <a:pt x="6790944" y="3657600"/>
                  </a:cubicBezTo>
                  <a:lnTo>
                    <a:pt x="195072" y="3657600"/>
                  </a:lnTo>
                  <a:cubicBezTo>
                    <a:pt x="87376" y="3657600"/>
                    <a:pt x="0" y="3570224"/>
                    <a:pt x="0" y="34625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926080"/>
            <a:ext cx="868680" cy="868680"/>
            <a:chOff x="0" y="0"/>
            <a:chExt cx="1158240" cy="1158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58240" cy="1158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31720" y="2926080"/>
            <a:ext cx="3593592" cy="868680"/>
            <a:chOff x="0" y="0"/>
            <a:chExt cx="4791456" cy="1158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91456" cy="1158240"/>
            </a:xfrm>
            <a:custGeom>
              <a:avLst/>
              <a:gdLst/>
              <a:ahLst/>
              <a:cxnLst/>
              <a:rect r="r" b="b" t="t" l="l"/>
              <a:pathLst>
                <a:path h="11582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06" r="0" b="-306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791456" cy="1224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Binomial Heap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PENDING QUEUE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80160" y="3975735"/>
            <a:ext cx="4507992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incoming tasks grouped by urgency levels.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24244" y="2651760"/>
            <a:ext cx="5239512" cy="2743200"/>
            <a:chOff x="0" y="0"/>
            <a:chExt cx="6986016" cy="365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86015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86015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376"/>
                    <a:pt x="6986015" y="195072"/>
                  </a:cubicBezTo>
                  <a:lnTo>
                    <a:pt x="6986015" y="3462528"/>
                  </a:lnTo>
                  <a:cubicBezTo>
                    <a:pt x="6986015" y="3570224"/>
                    <a:pt x="6898639" y="3657600"/>
                    <a:pt x="6790944" y="3657600"/>
                  </a:cubicBezTo>
                  <a:lnTo>
                    <a:pt x="195072" y="3657600"/>
                  </a:lnTo>
                  <a:cubicBezTo>
                    <a:pt x="87376" y="3657600"/>
                    <a:pt x="0" y="3570224"/>
                    <a:pt x="0" y="34625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44284" y="2926080"/>
            <a:ext cx="868680" cy="868680"/>
            <a:chOff x="0" y="0"/>
            <a:chExt cx="1158240" cy="1158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158240" cy="1158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1564" y="2926080"/>
            <a:ext cx="3593592" cy="868680"/>
            <a:chOff x="0" y="0"/>
            <a:chExt cx="4791456" cy="1158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91456" cy="1158240"/>
            </a:xfrm>
            <a:custGeom>
              <a:avLst/>
              <a:gdLst/>
              <a:ahLst/>
              <a:cxnLst/>
              <a:rect r="r" b="b" t="t" l="l"/>
              <a:pathLst>
                <a:path h="11582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06" r="0" b="-306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791456" cy="1224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AVL Tree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TRACKING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890004" y="3975735"/>
            <a:ext cx="4507992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Self-balancing state machine for instantly locating moving targets.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34088" y="2651760"/>
            <a:ext cx="5239512" cy="2743200"/>
            <a:chOff x="0" y="0"/>
            <a:chExt cx="6986016" cy="36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86015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86015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87376"/>
                    <a:pt x="6986015" y="195072"/>
                  </a:cubicBezTo>
                  <a:lnTo>
                    <a:pt x="6986015" y="3462528"/>
                  </a:lnTo>
                  <a:cubicBezTo>
                    <a:pt x="6986015" y="3570224"/>
                    <a:pt x="6898639" y="3657600"/>
                    <a:pt x="6790944" y="3657600"/>
                  </a:cubicBezTo>
                  <a:lnTo>
                    <a:pt x="195072" y="3657600"/>
                  </a:lnTo>
                  <a:cubicBezTo>
                    <a:pt x="87376" y="3657600"/>
                    <a:pt x="0" y="3570224"/>
                    <a:pt x="0" y="34625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54128" y="2926080"/>
            <a:ext cx="868680" cy="868680"/>
            <a:chOff x="0" y="0"/>
            <a:chExt cx="1158240" cy="1158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58240" cy="1158240"/>
            </a:xfrm>
            <a:custGeom>
              <a:avLst/>
              <a:gdLst/>
              <a:ahLst/>
              <a:cxnLst/>
              <a:rect r="r" b="b" t="t" l="l"/>
              <a:pathLst>
                <a:path h="1158240" w="1158240">
                  <a:moveTo>
                    <a:pt x="0" y="579120"/>
                  </a:moveTo>
                  <a:cubicBezTo>
                    <a:pt x="0" y="259334"/>
                    <a:pt x="259334" y="0"/>
                    <a:pt x="579120" y="0"/>
                  </a:cubicBezTo>
                  <a:cubicBezTo>
                    <a:pt x="898906" y="0"/>
                    <a:pt x="1158240" y="259334"/>
                    <a:pt x="1158240" y="579120"/>
                  </a:cubicBezTo>
                  <a:cubicBezTo>
                    <a:pt x="1158240" y="898906"/>
                    <a:pt x="898906" y="1158240"/>
                    <a:pt x="579120" y="1158240"/>
                  </a:cubicBezTo>
                  <a:cubicBezTo>
                    <a:pt x="259334" y="1158240"/>
                    <a:pt x="0" y="898906"/>
                    <a:pt x="0" y="57912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158240" cy="1158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51408" y="2926080"/>
            <a:ext cx="3593592" cy="868680"/>
            <a:chOff x="0" y="0"/>
            <a:chExt cx="4791456" cy="1158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91456" cy="1158240"/>
            </a:xfrm>
            <a:custGeom>
              <a:avLst/>
              <a:gdLst/>
              <a:ahLst/>
              <a:cxnLst/>
              <a:rect r="r" b="b" t="t" l="l"/>
              <a:pathLst>
                <a:path h="1158240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06" r="0" b="-306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791456" cy="1224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Treap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 FLEET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499848" y="3975735"/>
            <a:ext cx="4507992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Dual-property logic: Driver ID as BST key, Availability Score as Heap priority.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4400" y="5669280"/>
            <a:ext cx="8229600" cy="457200"/>
            <a:chOff x="0" y="0"/>
            <a:chExt cx="109728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IMPLEMENTATION DETAILS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6217920"/>
            <a:ext cx="5239512" cy="2715698"/>
            <a:chOff x="0" y="0"/>
            <a:chExt cx="6986016" cy="36209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86015" cy="3620931"/>
            </a:xfrm>
            <a:custGeom>
              <a:avLst/>
              <a:gdLst/>
              <a:ahLst/>
              <a:cxnLst/>
              <a:rect r="r" b="b" t="t" l="l"/>
              <a:pathLst>
                <a:path h="3620931" w="6986015">
                  <a:moveTo>
                    <a:pt x="0" y="175560"/>
                  </a:moveTo>
                  <a:cubicBezTo>
                    <a:pt x="0" y="7863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78636"/>
                    <a:pt x="6986015" y="175560"/>
                  </a:cubicBezTo>
                  <a:lnTo>
                    <a:pt x="6986015" y="3445370"/>
                  </a:lnTo>
                  <a:cubicBezTo>
                    <a:pt x="6986015" y="3542295"/>
                    <a:pt x="6898639" y="3620931"/>
                    <a:pt x="6790944" y="3620931"/>
                  </a:cubicBezTo>
                  <a:lnTo>
                    <a:pt x="195072" y="3620931"/>
                  </a:lnTo>
                  <a:cubicBezTo>
                    <a:pt x="87376" y="3620931"/>
                    <a:pt x="0" y="3542295"/>
                    <a:pt x="0" y="3445370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28700" y="6440805"/>
            <a:ext cx="4873752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 Rotation Mechanics: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Engineered Left-Left, Right-Right, Left-Right, and Right-Left node rotations entirely from scratch to maintain strict tree heights.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524244" y="6217920"/>
            <a:ext cx="5239512" cy="2715698"/>
            <a:chOff x="0" y="0"/>
            <a:chExt cx="6986016" cy="36209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86015" cy="3620931"/>
            </a:xfrm>
            <a:custGeom>
              <a:avLst/>
              <a:gdLst/>
              <a:ahLst/>
              <a:cxnLst/>
              <a:rect r="r" b="b" t="t" l="l"/>
              <a:pathLst>
                <a:path h="3620931" w="6986015">
                  <a:moveTo>
                    <a:pt x="0" y="175560"/>
                  </a:moveTo>
                  <a:cubicBezTo>
                    <a:pt x="0" y="7863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78636"/>
                    <a:pt x="6986015" y="175560"/>
                  </a:cubicBezTo>
                  <a:lnTo>
                    <a:pt x="6986015" y="3445370"/>
                  </a:lnTo>
                  <a:cubicBezTo>
                    <a:pt x="6986015" y="3542295"/>
                    <a:pt x="6898639" y="3620931"/>
                    <a:pt x="6790944" y="3620931"/>
                  </a:cubicBezTo>
                  <a:lnTo>
                    <a:pt x="195072" y="3620931"/>
                  </a:lnTo>
                  <a:cubicBezTo>
                    <a:pt x="87376" y="3620931"/>
                    <a:pt x="0" y="3542295"/>
                    <a:pt x="0" y="3445370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6524244" y="6440805"/>
            <a:ext cx="4873752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Algorithmic Merging: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complex sibling-pointer logic for the Binomial Heap, allowing the union of multiple trees of equal degrees without memory fragmentation.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134088" y="6217920"/>
            <a:ext cx="5239512" cy="2715698"/>
            <a:chOff x="0" y="0"/>
            <a:chExt cx="6986016" cy="36209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86015" cy="3620931"/>
            </a:xfrm>
            <a:custGeom>
              <a:avLst/>
              <a:gdLst/>
              <a:ahLst/>
              <a:cxnLst/>
              <a:rect r="r" b="b" t="t" l="l"/>
              <a:pathLst>
                <a:path h="3620931" w="6986015">
                  <a:moveTo>
                    <a:pt x="0" y="175560"/>
                  </a:moveTo>
                  <a:cubicBezTo>
                    <a:pt x="0" y="78636"/>
                    <a:pt x="87376" y="0"/>
                    <a:pt x="195072" y="0"/>
                  </a:cubicBezTo>
                  <a:lnTo>
                    <a:pt x="6790944" y="0"/>
                  </a:lnTo>
                  <a:cubicBezTo>
                    <a:pt x="6898639" y="0"/>
                    <a:pt x="6986015" y="78636"/>
                    <a:pt x="6986015" y="175560"/>
                  </a:cubicBezTo>
                  <a:lnTo>
                    <a:pt x="6986015" y="3445370"/>
                  </a:lnTo>
                  <a:cubicBezTo>
                    <a:pt x="6986015" y="3542295"/>
                    <a:pt x="6898639" y="3620931"/>
                    <a:pt x="6790944" y="3620931"/>
                  </a:cubicBezTo>
                  <a:lnTo>
                    <a:pt x="195072" y="3620931"/>
                  </a:lnTo>
                  <a:cubicBezTo>
                    <a:pt x="87376" y="3620931"/>
                    <a:pt x="0" y="3542295"/>
                    <a:pt x="0" y="3445370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272391" y="6442710"/>
            <a:ext cx="4872609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Pointer Lifecycle: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explicit pointer allocation and deallocation (new/delete) with rigorous nullptr guarding to eliminate memory leaks during node transfer.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 and Testing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PARAMETERS &amp; OUTCOMES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9536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TEST CASES VERIFIED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7315200" cy="1874520"/>
            <a:chOff x="0" y="0"/>
            <a:chExt cx="9753600" cy="2499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2499360"/>
            </a:xfrm>
            <a:custGeom>
              <a:avLst/>
              <a:gdLst/>
              <a:ahLst/>
              <a:cxnLst/>
              <a:rect r="r" b="b" t="t" l="l"/>
              <a:pathLst>
                <a:path h="2499360" w="9753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9558528" y="0"/>
                  </a:lnTo>
                  <a:cubicBezTo>
                    <a:pt x="9666224" y="0"/>
                    <a:pt x="9753600" y="87376"/>
                    <a:pt x="9753600" y="195072"/>
                  </a:cubicBezTo>
                  <a:lnTo>
                    <a:pt x="9753600" y="2304288"/>
                  </a:lnTo>
                  <a:cubicBezTo>
                    <a:pt x="9753600" y="2411984"/>
                    <a:pt x="9666224" y="2499360"/>
                    <a:pt x="9558528" y="2499360"/>
                  </a:cubicBezTo>
                  <a:lnTo>
                    <a:pt x="195072" y="2499360"/>
                  </a:lnTo>
                  <a:cubicBezTo>
                    <a:pt x="87376" y="2499360"/>
                    <a:pt x="0" y="2411984"/>
                    <a:pt x="0" y="230428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317754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331720" y="2834640"/>
            <a:ext cx="5623560" cy="1508760"/>
            <a:chOff x="0" y="0"/>
            <a:chExt cx="749808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98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49808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8311" indent="-224155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Stress-tested the C++ backend by injecting massive datasets of virtual nodes (drivers, high-priority orders).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754880"/>
            <a:ext cx="7315200" cy="2286000"/>
            <a:chOff x="0" y="0"/>
            <a:chExt cx="9753600" cy="304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9753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9558528" y="0"/>
                  </a:lnTo>
                  <a:cubicBezTo>
                    <a:pt x="9666224" y="0"/>
                    <a:pt x="9753600" y="87376"/>
                    <a:pt x="9753600" y="195072"/>
                  </a:cubicBezTo>
                  <a:lnTo>
                    <a:pt x="9753600" y="2852928"/>
                  </a:lnTo>
                  <a:cubicBezTo>
                    <a:pt x="9753600" y="2960624"/>
                    <a:pt x="9666224" y="3048000"/>
                    <a:pt x="9558528" y="3048000"/>
                  </a:cubicBezTo>
                  <a:lnTo>
                    <a:pt x="195072" y="3048000"/>
                  </a:lnTo>
                  <a:cubicBezTo>
                    <a:pt x="87376" y="3048000"/>
                    <a:pt x="0" y="2960624"/>
                    <a:pt x="0" y="28529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548640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331720" y="4937760"/>
            <a:ext cx="5623560" cy="1920240"/>
            <a:chOff x="0" y="0"/>
            <a:chExt cx="7498080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980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49808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8311" indent="-224155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successfully sustained zero memory leaks and prevented all segmentation faults during complex multi-node tree rotations.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7269480"/>
            <a:ext cx="7315200" cy="1874520"/>
            <a:chOff x="0" y="0"/>
            <a:chExt cx="9753600" cy="2499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2499360"/>
            </a:xfrm>
            <a:custGeom>
              <a:avLst/>
              <a:gdLst/>
              <a:ahLst/>
              <a:cxnLst/>
              <a:rect r="r" b="b" t="t" l="l"/>
              <a:pathLst>
                <a:path h="2499360" w="9753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9558528" y="0"/>
                  </a:lnTo>
                  <a:cubicBezTo>
                    <a:pt x="9666224" y="0"/>
                    <a:pt x="9753600" y="87376"/>
                    <a:pt x="9753600" y="195072"/>
                  </a:cubicBezTo>
                  <a:lnTo>
                    <a:pt x="9753600" y="2304288"/>
                  </a:lnTo>
                  <a:cubicBezTo>
                    <a:pt x="9753600" y="2411984"/>
                    <a:pt x="9666224" y="2499360"/>
                    <a:pt x="9558528" y="2499360"/>
                  </a:cubicBezTo>
                  <a:lnTo>
                    <a:pt x="195072" y="2499360"/>
                  </a:lnTo>
                  <a:cubicBezTo>
                    <a:pt x="87376" y="2499360"/>
                    <a:pt x="0" y="2411984"/>
                    <a:pt x="0" y="230428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779526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31720" y="7452360"/>
            <a:ext cx="5623560" cy="1508760"/>
            <a:chOff x="0" y="0"/>
            <a:chExt cx="7498080" cy="2011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98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498080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48311" indent="-224155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1B2A4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Algorithmic bounds of O(log n) were mathematically and practically verified across all primary operations.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95360" y="2651760"/>
            <a:ext cx="8778240" cy="1783080"/>
            <a:chOff x="0" y="0"/>
            <a:chExt cx="11704320" cy="2377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704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1704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509248" y="0"/>
                  </a:lnTo>
                  <a:cubicBezTo>
                    <a:pt x="11616944" y="0"/>
                    <a:pt x="11704320" y="87376"/>
                    <a:pt x="11704320" y="195072"/>
                  </a:cubicBezTo>
                  <a:lnTo>
                    <a:pt x="11704320" y="2182368"/>
                  </a:lnTo>
                  <a:cubicBezTo>
                    <a:pt x="11704320" y="2290064"/>
                    <a:pt x="11616944" y="2377440"/>
                    <a:pt x="11509248" y="2377440"/>
                  </a:cubicBezTo>
                  <a:lnTo>
                    <a:pt x="195072" y="2377440"/>
                  </a:lnTo>
                  <a:cubicBezTo>
                    <a:pt x="87376" y="2377440"/>
                    <a:pt x="0" y="2290064"/>
                    <a:pt x="0" y="21823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915400" y="2926080"/>
            <a:ext cx="1371600" cy="566928"/>
            <a:chOff x="0" y="0"/>
            <a:chExt cx="1828800" cy="7559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28800" cy="755904"/>
            </a:xfrm>
            <a:custGeom>
              <a:avLst/>
              <a:gdLst/>
              <a:ahLst/>
              <a:cxnLst/>
              <a:rect r="r" b="b" t="t" l="l"/>
              <a:pathLst>
                <a:path h="755904" w="1828800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lnTo>
                    <a:pt x="1450848" y="0"/>
                  </a:lnTo>
                  <a:cubicBezTo>
                    <a:pt x="1659636" y="0"/>
                    <a:pt x="1828800" y="169164"/>
                    <a:pt x="1828800" y="377952"/>
                  </a:cubicBezTo>
                  <a:cubicBezTo>
                    <a:pt x="1828800" y="586740"/>
                    <a:pt x="1659636" y="755904"/>
                    <a:pt x="1450848" y="755904"/>
                  </a:cubicBezTo>
                  <a:lnTo>
                    <a:pt x="377952" y="755904"/>
                  </a:ln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828800" cy="75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TC-01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607040" y="2832735"/>
            <a:ext cx="6492240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Priority Queue: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Extract-Min operation consistently retrieved the highest-priority medical/urgent order accurately.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95360" y="4617720"/>
            <a:ext cx="8778240" cy="2011680"/>
            <a:chOff x="0" y="0"/>
            <a:chExt cx="11704320" cy="2682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043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1704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509248" y="0"/>
                  </a:lnTo>
                  <a:cubicBezTo>
                    <a:pt x="11616944" y="0"/>
                    <a:pt x="11704320" y="87376"/>
                    <a:pt x="11704320" y="195072"/>
                  </a:cubicBezTo>
                  <a:lnTo>
                    <a:pt x="11704320" y="2487168"/>
                  </a:lnTo>
                  <a:cubicBezTo>
                    <a:pt x="11704320" y="2594864"/>
                    <a:pt x="11616944" y="2682240"/>
                    <a:pt x="115092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15400" y="4892040"/>
            <a:ext cx="1371600" cy="566928"/>
            <a:chOff x="0" y="0"/>
            <a:chExt cx="1828800" cy="7559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0" cy="755904"/>
            </a:xfrm>
            <a:custGeom>
              <a:avLst/>
              <a:gdLst/>
              <a:ahLst/>
              <a:cxnLst/>
              <a:rect r="r" b="b" t="t" l="l"/>
              <a:pathLst>
                <a:path h="755904" w="1828800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lnTo>
                    <a:pt x="1450848" y="0"/>
                  </a:lnTo>
                  <a:cubicBezTo>
                    <a:pt x="1659636" y="0"/>
                    <a:pt x="1828800" y="169164"/>
                    <a:pt x="1828800" y="377952"/>
                  </a:cubicBezTo>
                  <a:cubicBezTo>
                    <a:pt x="1828800" y="586740"/>
                    <a:pt x="1659636" y="755904"/>
                    <a:pt x="1450848" y="755904"/>
                  </a:cubicBezTo>
                  <a:lnTo>
                    <a:pt x="377952" y="755904"/>
                  </a:ln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828800" cy="75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TC-02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607040" y="4798695"/>
            <a:ext cx="649224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Case Handling: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gracefully aborted dispatch and threw appropriate internal flags when the Treap driver pool was artificially emptied.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595360" y="6812280"/>
            <a:ext cx="8778240" cy="2377440"/>
            <a:chOff x="0" y="0"/>
            <a:chExt cx="11704320" cy="31699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043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704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1509248" y="0"/>
                  </a:lnTo>
                  <a:cubicBezTo>
                    <a:pt x="11616944" y="0"/>
                    <a:pt x="11704320" y="87376"/>
                    <a:pt x="11704320" y="195072"/>
                  </a:cubicBezTo>
                  <a:lnTo>
                    <a:pt x="11704320" y="2974848"/>
                  </a:lnTo>
                  <a:cubicBezTo>
                    <a:pt x="11704320" y="3082544"/>
                    <a:pt x="11616944" y="3169920"/>
                    <a:pt x="11509248" y="3169920"/>
                  </a:cubicBezTo>
                  <a:lnTo>
                    <a:pt x="195072" y="3169920"/>
                  </a:lnTo>
                  <a:cubicBezTo>
                    <a:pt x="87376" y="3169920"/>
                    <a:pt x="0" y="3082544"/>
                    <a:pt x="0" y="297484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915400" y="7086600"/>
            <a:ext cx="1371600" cy="566928"/>
            <a:chOff x="0" y="0"/>
            <a:chExt cx="1828800" cy="7559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755904"/>
            </a:xfrm>
            <a:custGeom>
              <a:avLst/>
              <a:gdLst/>
              <a:ahLst/>
              <a:cxnLst/>
              <a:rect r="r" b="b" t="t" l="l"/>
              <a:pathLst>
                <a:path h="755904" w="1828800">
                  <a:moveTo>
                    <a:pt x="0" y="377952"/>
                  </a:moveTo>
                  <a:cubicBezTo>
                    <a:pt x="0" y="169164"/>
                    <a:pt x="169164" y="0"/>
                    <a:pt x="377952" y="0"/>
                  </a:cubicBezTo>
                  <a:lnTo>
                    <a:pt x="1450848" y="0"/>
                  </a:lnTo>
                  <a:cubicBezTo>
                    <a:pt x="1659636" y="0"/>
                    <a:pt x="1828800" y="169164"/>
                    <a:pt x="1828800" y="377952"/>
                  </a:cubicBezTo>
                  <a:cubicBezTo>
                    <a:pt x="1828800" y="586740"/>
                    <a:pt x="1659636" y="755904"/>
                    <a:pt x="1450848" y="755904"/>
                  </a:cubicBezTo>
                  <a:lnTo>
                    <a:pt x="377952" y="755904"/>
                  </a:lnTo>
                  <a:cubicBezTo>
                    <a:pt x="169164" y="755904"/>
                    <a:pt x="0" y="586740"/>
                    <a:pt x="0" y="377952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828800" cy="755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TC-03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607040" y="6993255"/>
            <a:ext cx="6492240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State Migration: </a:t>
            </a: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Validated that completing an AVL active order flawlessly removed the node and re-inserted the associated driver back into the Treap with a newly randomized fatigue score.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Individual Contribution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651760"/>
            <a:ext cx="8046720" cy="3108960"/>
            <a:chOff x="0" y="0"/>
            <a:chExt cx="10728960" cy="4145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289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950208"/>
                  </a:lnTo>
                  <a:cubicBezTo>
                    <a:pt x="10728960" y="4057904"/>
                    <a:pt x="10641584" y="4145280"/>
                    <a:pt x="10533888" y="4145280"/>
                  </a:cubicBezTo>
                  <a:lnTo>
                    <a:pt x="195072" y="4145280"/>
                  </a:lnTo>
                  <a:cubicBezTo>
                    <a:pt x="87376" y="4145280"/>
                    <a:pt x="0" y="4057904"/>
                    <a:pt x="0" y="39502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2971800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14600" y="2926080"/>
            <a:ext cx="6217920" cy="1005840"/>
            <a:chOff x="0" y="0"/>
            <a:chExt cx="829056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29056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1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PRIORITY QUEUE ENGINEERING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60" y="4021455"/>
            <a:ext cx="73152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Engineered the Binomial Heap for priority queuing and dynamic hub merging. Defined core struct models (Order/Driver).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880" y="2651760"/>
            <a:ext cx="8046720" cy="3108960"/>
            <a:chOff x="0" y="0"/>
            <a:chExt cx="10728960" cy="4145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9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950208"/>
                  </a:lnTo>
                  <a:cubicBezTo>
                    <a:pt x="10728960" y="4057904"/>
                    <a:pt x="10641584" y="4145280"/>
                    <a:pt x="10533888" y="4145280"/>
                  </a:cubicBezTo>
                  <a:lnTo>
                    <a:pt x="195072" y="4145280"/>
                  </a:lnTo>
                  <a:cubicBezTo>
                    <a:pt x="87376" y="4145280"/>
                    <a:pt x="0" y="4057904"/>
                    <a:pt x="0" y="39502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92640" y="2971800"/>
            <a:ext cx="914400" cy="914400"/>
            <a:chOff x="0" y="0"/>
            <a:chExt cx="12192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27080" y="2926080"/>
            <a:ext cx="6217920" cy="1005840"/>
            <a:chOff x="0" y="0"/>
            <a:chExt cx="829056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90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29056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2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TRACKING &amp; BALANCING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92640" y="4021455"/>
            <a:ext cx="73152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the AVL Tree and designed the strict node-balancing mathematical rotation algorithms.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6035040"/>
            <a:ext cx="8046720" cy="3108960"/>
            <a:chOff x="0" y="0"/>
            <a:chExt cx="10728960" cy="4145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950208"/>
                  </a:lnTo>
                  <a:cubicBezTo>
                    <a:pt x="10728960" y="4057904"/>
                    <a:pt x="10641584" y="4145280"/>
                    <a:pt x="10533888" y="4145280"/>
                  </a:cubicBezTo>
                  <a:lnTo>
                    <a:pt x="195072" y="4145280"/>
                  </a:lnTo>
                  <a:cubicBezTo>
                    <a:pt x="87376" y="4145280"/>
                    <a:pt x="0" y="4057904"/>
                    <a:pt x="0" y="39502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0160" y="6355080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14600" y="6309360"/>
            <a:ext cx="6217920" cy="1005840"/>
            <a:chOff x="0" y="0"/>
            <a:chExt cx="829056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90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829056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3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 FLEET LOGIC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80160" y="7404735"/>
            <a:ext cx="73152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the Treap data structure, successfully mapping Driver IDs to BSTs while managing availability via Max-Heap rules.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26880" y="6035040"/>
            <a:ext cx="8046720" cy="3108960"/>
            <a:chOff x="0" y="0"/>
            <a:chExt cx="10728960" cy="4145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89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3950208"/>
                  </a:lnTo>
                  <a:cubicBezTo>
                    <a:pt x="10728960" y="4057904"/>
                    <a:pt x="10641584" y="4145280"/>
                    <a:pt x="10533888" y="4145280"/>
                  </a:cubicBezTo>
                  <a:lnTo>
                    <a:pt x="195072" y="4145280"/>
                  </a:lnTo>
                  <a:cubicBezTo>
                    <a:pt x="87376" y="4145280"/>
                    <a:pt x="0" y="4057904"/>
                    <a:pt x="0" y="395020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92640" y="6355080"/>
            <a:ext cx="914400" cy="914400"/>
            <a:chOff x="0" y="0"/>
            <a:chExt cx="121920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27080" y="6309360"/>
            <a:ext cx="6217920" cy="1005840"/>
            <a:chOff x="0" y="0"/>
            <a:chExt cx="829056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90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452" r="0" b="-704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829056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4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INTEGRATION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92640" y="7404735"/>
            <a:ext cx="73152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Built the overarching DispatchSystem controller. Managed data extraction vectors, integrated the REST API via cpp-httplib, and handled cross-structure memory routing.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Challenges and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CHALLENGES OVERCOME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SYSTEM LIMITATIONS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9692640" cy="2011680"/>
            <a:chOff x="0" y="0"/>
            <a:chExt cx="1292352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923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923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728448" y="0"/>
                  </a:lnTo>
                  <a:cubicBezTo>
                    <a:pt x="12836144" y="0"/>
                    <a:pt x="12923520" y="87376"/>
                    <a:pt x="12923520" y="195072"/>
                  </a:cubicBezTo>
                  <a:lnTo>
                    <a:pt x="12923520" y="2487168"/>
                  </a:lnTo>
                  <a:cubicBezTo>
                    <a:pt x="12923520" y="2594864"/>
                    <a:pt x="12836144" y="2682240"/>
                    <a:pt x="12728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2971800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14600" y="2907792"/>
            <a:ext cx="7818120" cy="502920"/>
            <a:chOff x="0" y="0"/>
            <a:chExt cx="10424160" cy="670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24160" cy="670560"/>
            </a:xfrm>
            <a:custGeom>
              <a:avLst/>
              <a:gdLst/>
              <a:ahLst/>
              <a:cxnLst/>
              <a:rect r="r" b="b" t="t" l="l"/>
              <a:pathLst>
                <a:path h="670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03" r="0" b="-25290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42416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Pointer Arithmetic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14600" y="3408807"/>
            <a:ext cx="781812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Debugging catastrophic segmentation faults caused by missing nullptr checks during complex Left-Right AVL rotations.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4892040"/>
            <a:ext cx="9692640" cy="2011680"/>
            <a:chOff x="0" y="0"/>
            <a:chExt cx="12923520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923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923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728448" y="0"/>
                  </a:lnTo>
                  <a:cubicBezTo>
                    <a:pt x="12836144" y="0"/>
                    <a:pt x="12923520" y="87376"/>
                    <a:pt x="12923520" y="195072"/>
                  </a:cubicBezTo>
                  <a:lnTo>
                    <a:pt x="12923520" y="2487168"/>
                  </a:lnTo>
                  <a:cubicBezTo>
                    <a:pt x="12923520" y="2594864"/>
                    <a:pt x="12836144" y="2682240"/>
                    <a:pt x="12728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5212080"/>
            <a:ext cx="914400" cy="914400"/>
            <a:chOff x="0" y="0"/>
            <a:chExt cx="12192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14600" y="5148072"/>
            <a:ext cx="7818120" cy="502920"/>
            <a:chOff x="0" y="0"/>
            <a:chExt cx="10424160" cy="670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24160" cy="670560"/>
            </a:xfrm>
            <a:custGeom>
              <a:avLst/>
              <a:gdLst/>
              <a:ahLst/>
              <a:cxnLst/>
              <a:rect r="r" b="b" t="t" l="l"/>
              <a:pathLst>
                <a:path h="670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03" r="0" b="-25290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42416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Heap Integrity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514600" y="5649087"/>
            <a:ext cx="781812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Ensuring the Binomial Heap union function correctly mapped node degrees without accidentally overwriting child or sibling pointers.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4400" y="7132320"/>
            <a:ext cx="9692640" cy="2011680"/>
            <a:chOff x="0" y="0"/>
            <a:chExt cx="12923520" cy="2682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23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923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728448" y="0"/>
                  </a:lnTo>
                  <a:cubicBezTo>
                    <a:pt x="12836144" y="0"/>
                    <a:pt x="12923520" y="87376"/>
                    <a:pt x="12923520" y="195072"/>
                  </a:cubicBezTo>
                  <a:lnTo>
                    <a:pt x="12923520" y="2487168"/>
                  </a:lnTo>
                  <a:cubicBezTo>
                    <a:pt x="12923520" y="2594864"/>
                    <a:pt x="12836144" y="2682240"/>
                    <a:pt x="12728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0160" y="7452360"/>
            <a:ext cx="914400" cy="914400"/>
            <a:chOff x="0" y="0"/>
            <a:chExt cx="12192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219200" cy="1219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14600" y="7388352"/>
            <a:ext cx="7818120" cy="502920"/>
            <a:chOff x="0" y="0"/>
            <a:chExt cx="10424160" cy="670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24160" cy="670560"/>
            </a:xfrm>
            <a:custGeom>
              <a:avLst/>
              <a:gdLst/>
              <a:ahLst/>
              <a:cxnLst/>
              <a:rect r="r" b="b" t="t" l="l"/>
              <a:pathLst>
                <a:path h="670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903" r="0" b="-25290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042416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Rebalancing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514600" y="7889367"/>
            <a:ext cx="781812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Maintaining Max-Heap properties dynamically in the Treap when a driver’s score naturally depletes or regenerates.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972800" y="2651760"/>
            <a:ext cx="6400800" cy="3154680"/>
            <a:chOff x="0" y="0"/>
            <a:chExt cx="8534400" cy="42062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34400" cy="4206240"/>
            </a:xfrm>
            <a:custGeom>
              <a:avLst/>
              <a:gdLst/>
              <a:ahLst/>
              <a:cxnLst/>
              <a:rect r="r" b="b" t="t" l="l"/>
              <a:pathLst>
                <a:path h="4206240" w="8534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339328" y="0"/>
                  </a:lnTo>
                  <a:cubicBezTo>
                    <a:pt x="8447024" y="0"/>
                    <a:pt x="8534400" y="87376"/>
                    <a:pt x="8534400" y="195072"/>
                  </a:cubicBezTo>
                  <a:lnTo>
                    <a:pt x="8534400" y="4011168"/>
                  </a:lnTo>
                  <a:cubicBezTo>
                    <a:pt x="8534400" y="4118864"/>
                    <a:pt x="8447024" y="4206240"/>
                    <a:pt x="8339328" y="4206240"/>
                  </a:cubicBezTo>
                  <a:lnTo>
                    <a:pt x="195072" y="4206240"/>
                  </a:lnTo>
                  <a:cubicBezTo>
                    <a:pt x="87376" y="4206240"/>
                    <a:pt x="0" y="4118864"/>
                    <a:pt x="0" y="401116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38560" y="2926080"/>
            <a:ext cx="5669280" cy="548640"/>
            <a:chOff x="0" y="0"/>
            <a:chExt cx="75590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5590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In-Memory Volatility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338560" y="3564255"/>
            <a:ext cx="5669280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currently operates entirely within local RAM. If the C++ server crashes, active tracking states and pending queues are lost.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972800" y="6035040"/>
            <a:ext cx="6400800" cy="3108960"/>
            <a:chOff x="0" y="0"/>
            <a:chExt cx="8534400" cy="4145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344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8534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339328" y="0"/>
                  </a:lnTo>
                  <a:cubicBezTo>
                    <a:pt x="8447024" y="0"/>
                    <a:pt x="8534400" y="87376"/>
                    <a:pt x="8534400" y="195072"/>
                  </a:cubicBezTo>
                  <a:lnTo>
                    <a:pt x="8534400" y="3950208"/>
                  </a:lnTo>
                  <a:cubicBezTo>
                    <a:pt x="8534400" y="4057904"/>
                    <a:pt x="8447024" y="4145280"/>
                    <a:pt x="8339328" y="4145280"/>
                  </a:cubicBezTo>
                  <a:lnTo>
                    <a:pt x="195072" y="4145280"/>
                  </a:lnTo>
                  <a:cubicBezTo>
                    <a:pt x="87376" y="4145280"/>
                    <a:pt x="0" y="4057904"/>
                    <a:pt x="0" y="395020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338560" y="6309360"/>
            <a:ext cx="5669280" cy="548640"/>
            <a:chOff x="0" y="0"/>
            <a:chExt cx="75590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75590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Thread Safety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338560" y="6947535"/>
            <a:ext cx="5669280" cy="201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currently relies on sequential processing; concurrent multithreading for simultaneous regional dispatches is not yet supported.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and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4672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EXTENSIONS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6766560" cy="6492240"/>
            <a:chOff x="0" y="0"/>
            <a:chExt cx="9022080" cy="8656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2080" cy="8656320"/>
            </a:xfrm>
            <a:custGeom>
              <a:avLst/>
              <a:gdLst/>
              <a:ahLst/>
              <a:cxnLst/>
              <a:rect r="r" b="b" t="t" l="l"/>
              <a:pathLst>
                <a:path h="8656320" w="902208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8827008" y="0"/>
                  </a:lnTo>
                  <a:cubicBezTo>
                    <a:pt x="8934703" y="0"/>
                    <a:pt x="9022080" y="87376"/>
                    <a:pt x="9022080" y="195072"/>
                  </a:cubicBezTo>
                  <a:lnTo>
                    <a:pt x="9022080" y="8461248"/>
                  </a:lnTo>
                  <a:cubicBezTo>
                    <a:pt x="9022080" y="8568944"/>
                    <a:pt x="8934703" y="8656320"/>
                    <a:pt x="8827008" y="8656320"/>
                  </a:cubicBezTo>
                  <a:lnTo>
                    <a:pt x="195072" y="8656320"/>
                  </a:lnTo>
                  <a:cubicBezTo>
                    <a:pt x="87376" y="8656320"/>
                    <a:pt x="0" y="8568944"/>
                    <a:pt x="0" y="846124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0160" y="2969895"/>
            <a:ext cx="6035040" cy="388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Successfully proved that replacing standard linear structures with advanced algorithmic trees (Binomial Heap, AVL, Treap) drastically reduces computational overhead for complex logistics routing.</a:t>
            </a:r>
          </a:p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All initial objectives for O(log n) performance bounds were met and exceeded in localized testing.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80160" y="7040880"/>
            <a:ext cx="6035040" cy="1188720"/>
            <a:chOff x="0" y="0"/>
            <a:chExt cx="8046720" cy="1584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46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8046720" cy="153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7200" b="true">
                  <a:solidFill>
                    <a:srgbClr val="F5A62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 / 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80160" y="8191500"/>
            <a:ext cx="60350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BD3DC"/>
                </a:solidFill>
                <a:latin typeface="Calibri (MS)"/>
                <a:ea typeface="Calibri (MS)"/>
                <a:cs typeface="Calibri (MS)"/>
                <a:sym typeface="Calibri (MS)"/>
              </a:rPr>
              <a:t>objectives achieved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046720" y="2651760"/>
            <a:ext cx="9326880" cy="2011680"/>
            <a:chOff x="0" y="0"/>
            <a:chExt cx="12435840" cy="2682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35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4358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240768" y="0"/>
                  </a:lnTo>
                  <a:cubicBezTo>
                    <a:pt x="12348464" y="0"/>
                    <a:pt x="12435840" y="87376"/>
                    <a:pt x="12435840" y="195072"/>
                  </a:cubicBezTo>
                  <a:lnTo>
                    <a:pt x="12435840" y="2487168"/>
                  </a:lnTo>
                  <a:cubicBezTo>
                    <a:pt x="12435840" y="2594864"/>
                    <a:pt x="12348464" y="2682240"/>
                    <a:pt x="1224076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12480" y="2971800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46920" y="2907792"/>
            <a:ext cx="7452360" cy="502920"/>
            <a:chOff x="0" y="0"/>
            <a:chExt cx="9936480" cy="670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36479" cy="670560"/>
            </a:xfrm>
            <a:custGeom>
              <a:avLst/>
              <a:gdLst/>
              <a:ahLst/>
              <a:cxnLst/>
              <a:rect r="r" b="b" t="t" l="l"/>
              <a:pathLst>
                <a:path h="670560" w="9936479">
                  <a:moveTo>
                    <a:pt x="0" y="0"/>
                  </a:moveTo>
                  <a:lnTo>
                    <a:pt x="9936479" y="0"/>
                  </a:lnTo>
                  <a:lnTo>
                    <a:pt x="9936479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32" r="0" b="-2387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93648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Persistent Storage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46920" y="3408807"/>
            <a:ext cx="745236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Bridging the C++ backend to a robust relational database (e.g., PostgreSQL or MySQL) for crash recovery and state persistence.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046720" y="4892040"/>
            <a:ext cx="9326880" cy="2011680"/>
            <a:chOff x="0" y="0"/>
            <a:chExt cx="12435840" cy="2682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35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4358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240768" y="0"/>
                  </a:lnTo>
                  <a:cubicBezTo>
                    <a:pt x="12348464" y="0"/>
                    <a:pt x="12435840" y="87376"/>
                    <a:pt x="12435840" y="195072"/>
                  </a:cubicBezTo>
                  <a:lnTo>
                    <a:pt x="12435840" y="2487168"/>
                  </a:lnTo>
                  <a:cubicBezTo>
                    <a:pt x="12435840" y="2594864"/>
                    <a:pt x="12348464" y="2682240"/>
                    <a:pt x="1224076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412480" y="5212080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46920" y="5148072"/>
            <a:ext cx="7452360" cy="502920"/>
            <a:chOff x="0" y="0"/>
            <a:chExt cx="9936480" cy="670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36479" cy="670560"/>
            </a:xfrm>
            <a:custGeom>
              <a:avLst/>
              <a:gdLst/>
              <a:ahLst/>
              <a:cxnLst/>
              <a:rect r="r" b="b" t="t" l="l"/>
              <a:pathLst>
                <a:path h="670560" w="9936479">
                  <a:moveTo>
                    <a:pt x="0" y="0"/>
                  </a:moveTo>
                  <a:lnTo>
                    <a:pt x="9936479" y="0"/>
                  </a:lnTo>
                  <a:lnTo>
                    <a:pt x="9936479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32" r="0" b="-23873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993648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Dashboard Integration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46920" y="5649087"/>
            <a:ext cx="745236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Finalizing a React/Vite frontend dashboard with real-time Axios polling for visual dispatch management.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046720" y="7132320"/>
            <a:ext cx="9326880" cy="2011680"/>
            <a:chOff x="0" y="0"/>
            <a:chExt cx="12435840" cy="2682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35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24358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2240768" y="0"/>
                  </a:lnTo>
                  <a:cubicBezTo>
                    <a:pt x="12348464" y="0"/>
                    <a:pt x="12435840" y="87376"/>
                    <a:pt x="12435840" y="195072"/>
                  </a:cubicBezTo>
                  <a:lnTo>
                    <a:pt x="12435840" y="2487168"/>
                  </a:lnTo>
                  <a:cubicBezTo>
                    <a:pt x="12435840" y="2594864"/>
                    <a:pt x="12348464" y="2682240"/>
                    <a:pt x="1224076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412480" y="7452360"/>
            <a:ext cx="914400" cy="914400"/>
            <a:chOff x="0" y="0"/>
            <a:chExt cx="12192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46920" y="7388352"/>
            <a:ext cx="7452360" cy="502920"/>
            <a:chOff x="0" y="0"/>
            <a:chExt cx="9936480" cy="670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36479" cy="670560"/>
            </a:xfrm>
            <a:custGeom>
              <a:avLst/>
              <a:gdLst/>
              <a:ahLst/>
              <a:cxnLst/>
              <a:rect r="r" b="b" t="t" l="l"/>
              <a:pathLst>
                <a:path h="670560" w="9936479">
                  <a:moveTo>
                    <a:pt x="0" y="0"/>
                  </a:moveTo>
                  <a:lnTo>
                    <a:pt x="9936479" y="0"/>
                  </a:lnTo>
                  <a:lnTo>
                    <a:pt x="9936479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32" r="0" b="-23873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936480" cy="737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Concurrency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646920" y="7889367"/>
            <a:ext cx="745236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311" indent="-224155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Introducing standard &lt;thread&gt; libraries to handle simultaneous API requests globally.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1F3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C75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6C757D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2103120"/>
            <a:ext cx="8229600" cy="457200"/>
            <a:chOff x="0" y="0"/>
            <a:chExt cx="1097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ALGORITHMIC TEXTS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26880" y="2103120"/>
            <a:ext cx="8229600" cy="457200"/>
            <a:chOff x="0" y="0"/>
            <a:chExt cx="109728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728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6C75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DOCUMENTATION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2651760"/>
            <a:ext cx="7863840" cy="4572000"/>
            <a:chOff x="0" y="0"/>
            <a:chExt cx="10485120" cy="609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851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5900928"/>
                  </a:lnTo>
                  <a:cubicBezTo>
                    <a:pt x="10485120" y="6008624"/>
                    <a:pt x="10397744" y="6096000"/>
                    <a:pt x="10290048" y="6096000"/>
                  </a:cubicBezTo>
                  <a:lnTo>
                    <a:pt x="195072" y="6096000"/>
                  </a:lnTo>
                  <a:cubicBezTo>
                    <a:pt x="87376" y="6096000"/>
                    <a:pt x="0" y="6008624"/>
                    <a:pt x="0" y="59009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3017520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51737" y="3289097"/>
            <a:ext cx="462686" cy="462686"/>
            <a:chOff x="0" y="0"/>
            <a:chExt cx="616915" cy="6169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0" y="0"/>
                  </a:moveTo>
                  <a:lnTo>
                    <a:pt x="616966" y="0"/>
                  </a:lnTo>
                  <a:lnTo>
                    <a:pt x="616966" y="514096"/>
                  </a:lnTo>
                  <a:lnTo>
                    <a:pt x="514096" y="616966"/>
                  </a:lnTo>
                  <a:lnTo>
                    <a:pt x="0" y="6169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14096" y="514096"/>
              <a:ext cx="102870" cy="102870"/>
            </a:xfrm>
            <a:custGeom>
              <a:avLst/>
              <a:gdLst/>
              <a:ahLst/>
              <a:cxnLst/>
              <a:rect r="r" b="b" t="t" l="l"/>
              <a:pathLst>
                <a:path h="102870" w="102870">
                  <a:moveTo>
                    <a:pt x="0" y="102870"/>
                  </a:moveTo>
                  <a:lnTo>
                    <a:pt x="20574" y="20574"/>
                  </a:lnTo>
                  <a:lnTo>
                    <a:pt x="10287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6966" cy="616966"/>
            </a:xfrm>
            <a:custGeom>
              <a:avLst/>
              <a:gdLst/>
              <a:ahLst/>
              <a:cxnLst/>
              <a:rect r="r" b="b" t="t" l="l"/>
              <a:pathLst>
                <a:path h="616966" w="616966">
                  <a:moveTo>
                    <a:pt x="514096" y="616966"/>
                  </a:moveTo>
                  <a:lnTo>
                    <a:pt x="534670" y="534670"/>
                  </a:lnTo>
                  <a:lnTo>
                    <a:pt x="616966" y="514096"/>
                  </a:lnTo>
                  <a:lnTo>
                    <a:pt x="514096" y="616966"/>
                  </a:lnTo>
                  <a:lnTo>
                    <a:pt x="0" y="616966"/>
                  </a:lnTo>
                  <a:lnTo>
                    <a:pt x="0" y="0"/>
                  </a:lnTo>
                  <a:lnTo>
                    <a:pt x="616966" y="0"/>
                  </a:lnTo>
                  <a:lnTo>
                    <a:pt x="616966" y="514096"/>
                  </a:lnTo>
                </a:path>
              </a:pathLst>
            </a:custGeom>
            <a:solidFill>
              <a:srgbClr val="CCCCC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0160" y="4377690"/>
            <a:ext cx="7132320" cy="29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Cormen, T. H., Leiserson, C. E., Rivest, R. L., &amp; Stein, C. (2009). </a:t>
            </a:r>
            <a:r>
              <a:rPr lang="en-US" sz="2600" i="true">
                <a:solidFill>
                  <a:srgbClr val="1B2A4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Introduction to Algorithms</a:t>
            </a:r>
            <a:r>
              <a:rPr lang="en-US" sz="26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 (3rd Edition). MIT Press.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26880" y="2651760"/>
            <a:ext cx="8046720" cy="4572000"/>
            <a:chOff x="0" y="0"/>
            <a:chExt cx="10728960" cy="609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89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7289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533888" y="0"/>
                  </a:lnTo>
                  <a:cubicBezTo>
                    <a:pt x="10641584" y="0"/>
                    <a:pt x="10728960" y="87376"/>
                    <a:pt x="10728960" y="195072"/>
                  </a:cubicBezTo>
                  <a:lnTo>
                    <a:pt x="10728960" y="5900928"/>
                  </a:lnTo>
                  <a:cubicBezTo>
                    <a:pt x="10728960" y="6008624"/>
                    <a:pt x="10641584" y="6096000"/>
                    <a:pt x="10533888" y="6096000"/>
                  </a:cubicBezTo>
                  <a:lnTo>
                    <a:pt x="195072" y="6096000"/>
                  </a:lnTo>
                  <a:cubicBezTo>
                    <a:pt x="87376" y="6096000"/>
                    <a:pt x="0" y="6008624"/>
                    <a:pt x="0" y="5900928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92640" y="3017520"/>
            <a:ext cx="1005840" cy="1005840"/>
            <a:chOff x="0" y="0"/>
            <a:chExt cx="13411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64217" y="3289097"/>
            <a:ext cx="462686" cy="462686"/>
            <a:chOff x="0" y="0"/>
            <a:chExt cx="616915" cy="6169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0861" y="7239"/>
              <a:ext cx="555371" cy="602615"/>
            </a:xfrm>
            <a:custGeom>
              <a:avLst/>
              <a:gdLst/>
              <a:ahLst/>
              <a:cxnLst/>
              <a:rect r="r" b="b" t="t" l="l"/>
              <a:pathLst>
                <a:path h="602615" w="555371">
                  <a:moveTo>
                    <a:pt x="430784" y="148971"/>
                  </a:moveTo>
                  <a:lnTo>
                    <a:pt x="521843" y="121539"/>
                  </a:lnTo>
                  <a:lnTo>
                    <a:pt x="555371" y="179578"/>
                  </a:lnTo>
                  <a:lnTo>
                    <a:pt x="486156" y="244729"/>
                  </a:lnTo>
                  <a:cubicBezTo>
                    <a:pt x="496189" y="281686"/>
                    <a:pt x="496189" y="320802"/>
                    <a:pt x="486156" y="357759"/>
                  </a:cubicBezTo>
                  <a:lnTo>
                    <a:pt x="555371" y="422910"/>
                  </a:lnTo>
                  <a:lnTo>
                    <a:pt x="521843" y="480949"/>
                  </a:lnTo>
                  <a:lnTo>
                    <a:pt x="430784" y="453517"/>
                  </a:lnTo>
                  <a:cubicBezTo>
                    <a:pt x="403733" y="480695"/>
                    <a:pt x="369951" y="500253"/>
                    <a:pt x="332867" y="510032"/>
                  </a:cubicBezTo>
                  <a:lnTo>
                    <a:pt x="311150" y="602615"/>
                  </a:lnTo>
                  <a:lnTo>
                    <a:pt x="244094" y="602615"/>
                  </a:lnTo>
                  <a:lnTo>
                    <a:pt x="222377" y="510032"/>
                  </a:lnTo>
                  <a:cubicBezTo>
                    <a:pt x="185293" y="500253"/>
                    <a:pt x="151511" y="480695"/>
                    <a:pt x="124460" y="453517"/>
                  </a:cubicBezTo>
                  <a:lnTo>
                    <a:pt x="33401" y="480822"/>
                  </a:lnTo>
                  <a:lnTo>
                    <a:pt x="0" y="422910"/>
                  </a:lnTo>
                  <a:lnTo>
                    <a:pt x="69215" y="357759"/>
                  </a:lnTo>
                  <a:cubicBezTo>
                    <a:pt x="59182" y="320802"/>
                    <a:pt x="59182" y="281686"/>
                    <a:pt x="69215" y="244729"/>
                  </a:cubicBezTo>
                  <a:lnTo>
                    <a:pt x="0" y="179578"/>
                  </a:lnTo>
                  <a:lnTo>
                    <a:pt x="33528" y="121539"/>
                  </a:lnTo>
                  <a:lnTo>
                    <a:pt x="124587" y="148971"/>
                  </a:lnTo>
                  <a:cubicBezTo>
                    <a:pt x="151638" y="121793"/>
                    <a:pt x="185420" y="102235"/>
                    <a:pt x="222504" y="92456"/>
                  </a:cubicBezTo>
                  <a:lnTo>
                    <a:pt x="244094" y="0"/>
                  </a:lnTo>
                  <a:lnTo>
                    <a:pt x="311023" y="0"/>
                  </a:lnTo>
                  <a:lnTo>
                    <a:pt x="332740" y="92583"/>
                  </a:lnTo>
                  <a:cubicBezTo>
                    <a:pt x="369824" y="102362"/>
                    <a:pt x="403606" y="121920"/>
                    <a:pt x="430657" y="1490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92640" y="4377690"/>
            <a:ext cx="7315200" cy="298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C++ Reference Documentation (cppreference.com) for memory management and standard library limits.</a:t>
            </a:r>
          </a:p>
          <a:p>
            <a:pPr algn="l" marL="496572" indent="-248286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41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Documentation for nlohmann/json and cpp-httplib for REST API serialization constraints.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Questions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0120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FB0C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Delivery Dispatch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200400"/>
            <a:ext cx="10972800" cy="2377440"/>
            <a:chOff x="0" y="0"/>
            <a:chExt cx="14630400" cy="3169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4630400" cy="3084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YOU!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5747385"/>
            <a:ext cx="1042416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3399">
                <a:solidFill>
                  <a:srgbClr val="CBD3DC"/>
                </a:solidFill>
                <a:latin typeface="Calibri (MS)"/>
                <a:ea typeface="Calibri (MS)"/>
                <a:cs typeface="Calibri (MS)"/>
                <a:sym typeface="Calibri (MS)"/>
              </a:rPr>
              <a:t>We are now open for questions, technical discussion, and code review.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252960" y="2651760"/>
            <a:ext cx="5120640" cy="2011680"/>
            <a:chOff x="0" y="0"/>
            <a:chExt cx="6827520" cy="2682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487168"/>
                  </a:lnTo>
                  <a:cubicBezTo>
                    <a:pt x="6827520" y="2594864"/>
                    <a:pt x="6740144" y="2682240"/>
                    <a:pt x="6632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73000" y="3200400"/>
            <a:ext cx="914400" cy="914400"/>
            <a:chOff x="0" y="0"/>
            <a:chExt cx="1219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61720" y="2834640"/>
            <a:ext cx="3383280" cy="1645920"/>
            <a:chOff x="0" y="0"/>
            <a:chExt cx="451104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11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17" t="0" r="-1241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5110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2960" y="4892040"/>
            <a:ext cx="5120640" cy="2011680"/>
            <a:chOff x="0" y="0"/>
            <a:chExt cx="6827520" cy="268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487168"/>
                  </a:lnTo>
                  <a:cubicBezTo>
                    <a:pt x="6827520" y="2594864"/>
                    <a:pt x="6740144" y="2682240"/>
                    <a:pt x="6632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73000" y="5440680"/>
            <a:ext cx="914400" cy="914400"/>
            <a:chOff x="0" y="0"/>
            <a:chExt cx="12192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C7C7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61720" y="5074920"/>
            <a:ext cx="3383280" cy="1645920"/>
            <a:chOff x="0" y="0"/>
            <a:chExt cx="451104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11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17" t="0" r="-1241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5110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discussion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52960" y="7132320"/>
            <a:ext cx="5120640" cy="2011680"/>
            <a:chOff x="0" y="0"/>
            <a:chExt cx="682752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827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6632448" y="0"/>
                  </a:lnTo>
                  <a:cubicBezTo>
                    <a:pt x="6740144" y="0"/>
                    <a:pt x="6827520" y="87376"/>
                    <a:pt x="6827520" y="195072"/>
                  </a:cubicBezTo>
                  <a:lnTo>
                    <a:pt x="6827520" y="2487168"/>
                  </a:lnTo>
                  <a:cubicBezTo>
                    <a:pt x="6827520" y="2594864"/>
                    <a:pt x="6740144" y="2682240"/>
                    <a:pt x="6632448" y="2682240"/>
                  </a:cubicBezTo>
                  <a:lnTo>
                    <a:pt x="195072" y="2682240"/>
                  </a:lnTo>
                  <a:cubicBezTo>
                    <a:pt x="87376" y="2682240"/>
                    <a:pt x="0" y="2594864"/>
                    <a:pt x="0" y="2487168"/>
                  </a:cubicBezTo>
                  <a:close/>
                </a:path>
              </a:pathLst>
            </a:custGeom>
            <a:solidFill>
              <a:srgbClr val="1B2A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573000" y="768096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61720" y="7315200"/>
            <a:ext cx="3383280" cy="1645920"/>
            <a:chOff x="0" y="0"/>
            <a:chExt cx="4511040" cy="21945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1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17" t="0" r="-1241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51104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review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550640" y="9572244"/>
            <a:ext cx="731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FB0C3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DAHYzCfL7cI</dc:identifier>
  <dcterms:modified xsi:type="dcterms:W3CDTF">2011-08-01T06:04:30Z</dcterms:modified>
  <cp:revision>1</cp:revision>
  <dc:title>Course_Project_Evaluation_PPT_Final.pptx</dc:title>
</cp:coreProperties>
</file>